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AF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3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0B8A6"/>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pic>
        <p:nvPicPr>
          <p:cNvPr id="4" name="Image 0" descr="/mnt/data/airway_final_assets/ui_top.png">    </p:cNvPr>
          <p:cNvPicPr>
            <a:picLocks noChangeAspect="1"/>
          </p:cNvPicPr>
          <p:nvPr/>
        </p:nvPicPr>
        <p:blipFill>
          <a:blip r:embed="rId1"/>
          <a:srcRect l="29928" r="29928" t="0" b="0"/>
          <a:stretch/>
        </p:blipFill>
        <p:spPr>
          <a:xfrm>
            <a:off x="5852160" y="731520"/>
            <a:ext cx="5852160" cy="4937760"/>
          </a:xfrm>
          <a:prstGeom prst="rect">
            <a:avLst/>
          </a:prstGeom>
        </p:spPr>
      </p:pic>
      <p:sp>
        <p:nvSpPr>
          <p:cNvPr id="5" name="Shape 2"/>
          <p:cNvSpPr/>
          <p:nvPr/>
        </p:nvSpPr>
        <p:spPr>
          <a:xfrm>
            <a:off x="658368" y="685800"/>
            <a:ext cx="2286000" cy="347472"/>
          </a:xfrm>
          <a:prstGeom prst="roundRect">
            <a:avLst>
              <a:gd name="adj" fmla="val 15789"/>
            </a:avLst>
          </a:prstGeom>
          <a:solidFill>
            <a:srgbClr val="10B8A6"/>
          </a:solidFill>
          <a:ln w="12700">
            <a:solidFill>
              <a:srgbClr val="333333">
                <a:alpha val="0"/>
              </a:srgbClr>
            </a:solidFill>
            <a:prstDash val="solid"/>
          </a:ln>
        </p:spPr>
      </p:sp>
      <p:sp>
        <p:nvSpPr>
          <p:cNvPr id="6" name="Text 3"/>
          <p:cNvSpPr/>
          <p:nvPr/>
        </p:nvSpPr>
        <p:spPr>
          <a:xfrm>
            <a:off x="731520" y="768096"/>
            <a:ext cx="213969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Computer Science 3A Mini Project</a:t>
            </a:r>
            <a:endParaRPr lang="en-US" sz="820" dirty="0"/>
          </a:p>
        </p:txBody>
      </p:sp>
      <p:sp>
        <p:nvSpPr>
          <p:cNvPr id="7" name="Text 4"/>
          <p:cNvSpPr/>
          <p:nvPr/>
        </p:nvSpPr>
        <p:spPr>
          <a:xfrm>
            <a:off x="658368" y="1325880"/>
            <a:ext cx="5029200" cy="1417320"/>
          </a:xfrm>
          <a:prstGeom prst="rect">
            <a:avLst/>
          </a:prstGeom>
          <a:noFill/>
          <a:ln/>
        </p:spPr>
        <p:txBody>
          <a:bodyPr wrap="square" lIns="0" tIns="0" rIns="0" bIns="0" rtlCol="0" anchor="t">
            <a:normAutofit/>
          </a:bodyPr>
          <a:lstStyle/>
          <a:p>
            <a:pPr algn="l" indent="0" marL="0">
              <a:buNone/>
            </a:pPr>
            <a:r>
              <a:rPr lang="en-US" sz="4500" b="1" dirty="0">
                <a:solidFill>
                  <a:srgbClr val="FFFFFF"/>
                </a:solidFill>
                <a:latin typeface="Aptos" pitchFamily="34" charset="0"/>
                <a:ea typeface="Aptos" pitchFamily="34" charset="-122"/>
                <a:cs typeface="Aptos" pitchFamily="34" charset="-120"/>
              </a:rPr>
              <a:t>Airway Analysis</a:t>
            </a:r>
            <a:endParaRPr lang="en-US" sz="4500" dirty="0"/>
          </a:p>
          <a:p>
            <a:pPr algn="l" indent="0" marL="0">
              <a:buNone/>
            </a:pPr>
            <a:r>
              <a:rPr lang="en-US" sz="4500" b="1" dirty="0">
                <a:solidFill>
                  <a:srgbClr val="FFFFFF"/>
                </a:solidFill>
                <a:latin typeface="Aptos" pitchFamily="34" charset="0"/>
                <a:ea typeface="Aptos" pitchFamily="34" charset="-122"/>
                <a:cs typeface="Aptos" pitchFamily="34" charset="-120"/>
              </a:rPr>
              <a:t>System</a:t>
            </a:r>
            <a:endParaRPr lang="en-US" sz="4500" dirty="0"/>
          </a:p>
        </p:txBody>
      </p:sp>
      <p:sp>
        <p:nvSpPr>
          <p:cNvPr id="8" name="Text 5"/>
          <p:cNvSpPr/>
          <p:nvPr/>
        </p:nvSpPr>
        <p:spPr>
          <a:xfrm>
            <a:off x="694944" y="2971800"/>
            <a:ext cx="4937760" cy="566928"/>
          </a:xfrm>
          <a:prstGeom prst="rect">
            <a:avLst/>
          </a:prstGeom>
          <a:noFill/>
          <a:ln/>
        </p:spPr>
        <p:txBody>
          <a:bodyPr wrap="square" lIns="0" tIns="0" rIns="0" bIns="0" rtlCol="0" anchor="t">
            <a:normAutofit/>
          </a:bodyPr>
          <a:lstStyle/>
          <a:p>
            <a:pPr algn="l" indent="0" marL="0">
              <a:buNone/>
            </a:pPr>
            <a:r>
              <a:rPr lang="en-US" sz="1850" dirty="0">
                <a:solidFill>
                  <a:srgbClr val="D7F5FF"/>
                </a:solidFill>
                <a:latin typeface="Aptos" pitchFamily="34" charset="0"/>
                <a:ea typeface="Aptos" pitchFamily="34" charset="-122"/>
                <a:cs typeface="Aptos" pitchFamily="34" charset="-120"/>
              </a:rPr>
              <a:t>Graph-based CT airway structure review for education, research and decision-support.</a:t>
            </a:r>
            <a:endParaRPr lang="en-US" sz="1850" dirty="0"/>
          </a:p>
        </p:txBody>
      </p:sp>
      <p:sp>
        <p:nvSpPr>
          <p:cNvPr id="9" name="Shape 6"/>
          <p:cNvSpPr/>
          <p:nvPr/>
        </p:nvSpPr>
        <p:spPr>
          <a:xfrm>
            <a:off x="694944" y="3858768"/>
            <a:ext cx="1828800" cy="438912"/>
          </a:xfrm>
          <a:prstGeom prst="roundRect">
            <a:avLst>
              <a:gd name="adj" fmla="val 20833"/>
            </a:avLst>
          </a:prstGeom>
          <a:solidFill>
            <a:srgbClr val="842A49"/>
          </a:solidFill>
          <a:ln w="12700">
            <a:solidFill>
              <a:srgbClr val="333333">
                <a:alpha val="0"/>
              </a:srgbClr>
            </a:solidFill>
            <a:prstDash val="solid"/>
          </a:ln>
        </p:spPr>
      </p:sp>
      <p:sp>
        <p:nvSpPr>
          <p:cNvPr id="10" name="Text 7"/>
          <p:cNvSpPr/>
          <p:nvPr/>
        </p:nvSpPr>
        <p:spPr>
          <a:xfrm>
            <a:off x="768096" y="3995928"/>
            <a:ext cx="16824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Java desktop application</a:t>
            </a:r>
            <a:endParaRPr lang="en-US" sz="850" dirty="0"/>
          </a:p>
        </p:txBody>
      </p:sp>
      <p:sp>
        <p:nvSpPr>
          <p:cNvPr id="11" name="Shape 8"/>
          <p:cNvSpPr/>
          <p:nvPr/>
        </p:nvSpPr>
        <p:spPr>
          <a:xfrm>
            <a:off x="2743200" y="3858768"/>
            <a:ext cx="1737360" cy="438912"/>
          </a:xfrm>
          <a:prstGeom prst="roundRect">
            <a:avLst>
              <a:gd name="adj" fmla="val 20833"/>
            </a:avLst>
          </a:prstGeom>
          <a:solidFill>
            <a:srgbClr val="10B8A6"/>
          </a:solidFill>
          <a:ln w="12700">
            <a:solidFill>
              <a:srgbClr val="333333">
                <a:alpha val="0"/>
              </a:srgbClr>
            </a:solidFill>
            <a:prstDash val="solid"/>
          </a:ln>
        </p:spPr>
      </p:sp>
      <p:sp>
        <p:nvSpPr>
          <p:cNvPr id="12" name="Text 9"/>
          <p:cNvSpPr/>
          <p:nvPr/>
        </p:nvSpPr>
        <p:spPr>
          <a:xfrm>
            <a:off x="2816352" y="3995928"/>
            <a:ext cx="159105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CT airway analysis</a:t>
            </a:r>
            <a:endParaRPr lang="en-US" sz="850" dirty="0"/>
          </a:p>
        </p:txBody>
      </p:sp>
      <p:sp>
        <p:nvSpPr>
          <p:cNvPr id="13" name="Shape 10"/>
          <p:cNvSpPr/>
          <p:nvPr/>
        </p:nvSpPr>
        <p:spPr>
          <a:xfrm>
            <a:off x="694944" y="4443984"/>
            <a:ext cx="2286000" cy="438912"/>
          </a:xfrm>
          <a:prstGeom prst="roundRect">
            <a:avLst>
              <a:gd name="adj" fmla="val 20833"/>
            </a:avLst>
          </a:prstGeom>
          <a:solidFill>
            <a:srgbClr val="93DDF5"/>
          </a:solidFill>
          <a:ln w="12700">
            <a:solidFill>
              <a:srgbClr val="333333">
                <a:alpha val="0"/>
              </a:srgbClr>
            </a:solidFill>
            <a:prstDash val="solid"/>
          </a:ln>
        </p:spPr>
      </p:sp>
      <p:sp>
        <p:nvSpPr>
          <p:cNvPr id="14" name="Text 11"/>
          <p:cNvSpPr/>
          <p:nvPr/>
        </p:nvSpPr>
        <p:spPr>
          <a:xfrm>
            <a:off x="768096" y="4581144"/>
            <a:ext cx="2139696" cy="146304"/>
          </a:xfrm>
          <a:prstGeom prst="rect">
            <a:avLst/>
          </a:prstGeom>
          <a:noFill/>
          <a:ln/>
        </p:spPr>
        <p:txBody>
          <a:bodyPr wrap="square" lIns="0" tIns="0" rIns="0" bIns="0" rtlCol="0" anchor="t">
            <a:normAutofit/>
          </a:bodyPr>
          <a:lstStyle/>
          <a:p>
            <a:pPr algn="ctr" indent="0" marL="0">
              <a:buNone/>
            </a:pPr>
            <a:r>
              <a:rPr lang="en-US" sz="850" b="1" dirty="0">
                <a:solidFill>
                  <a:srgbClr val="12213A"/>
                </a:solidFill>
                <a:latin typeface="Aptos" pitchFamily="34" charset="0"/>
                <a:ea typeface="Aptos" pitchFamily="34" charset="-122"/>
                <a:cs typeface="Aptos" pitchFamily="34" charset="-120"/>
              </a:rPr>
              <a:t>Pathfinding + graph overlay</a:t>
            </a:r>
            <a:endParaRPr lang="en-US" sz="850" dirty="0"/>
          </a:p>
        </p:txBody>
      </p:sp>
      <p:sp>
        <p:nvSpPr>
          <p:cNvPr id="15" name="Text 12"/>
          <p:cNvSpPr/>
          <p:nvPr/>
        </p:nvSpPr>
        <p:spPr>
          <a:xfrm>
            <a:off x="713232" y="6199632"/>
            <a:ext cx="5486400" cy="292608"/>
          </a:xfrm>
          <a:prstGeom prst="rect">
            <a:avLst/>
          </a:prstGeom>
          <a:noFill/>
          <a:ln/>
        </p:spPr>
        <p:txBody>
          <a:bodyPr wrap="square" lIns="0" tIns="0" rIns="0" bIns="0" rtlCol="0" anchor="t">
            <a:normAutofit/>
          </a:bodyPr>
          <a:lstStyle/>
          <a:p>
            <a:pPr algn="l" indent="0" marL="0">
              <a:buNone/>
            </a:pPr>
            <a:r>
              <a:rPr lang="en-US" sz="1050" dirty="0">
                <a:solidFill>
                  <a:srgbClr val="C8D5DF"/>
                </a:solidFill>
                <a:latin typeface="Aptos" pitchFamily="34" charset="0"/>
                <a:ea typeface="Aptos" pitchFamily="34" charset="-122"/>
                <a:cs typeface="Aptos" pitchFamily="34" charset="-120"/>
              </a:rPr>
              <a:t>Educational / research prototype • Not a clinical diagnosis tool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Introduction</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Project overview and intended role</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01</a:t>
            </a:r>
            <a:endParaRPr lang="en-US" sz="850" dirty="0"/>
          </a:p>
        </p:txBody>
      </p:sp>
      <p:sp>
        <p:nvSpPr>
          <p:cNvPr id="8" name="Shape 6"/>
          <p:cNvSpPr/>
          <p:nvPr/>
        </p:nvSpPr>
        <p:spPr>
          <a:xfrm>
            <a:off x="594360" y="1417320"/>
            <a:ext cx="5074920" cy="2057400"/>
          </a:xfrm>
          <a:prstGeom prst="roundRect">
            <a:avLst>
              <a:gd name="adj" fmla="val 3556"/>
            </a:avLst>
          </a:prstGeom>
          <a:solidFill>
            <a:srgbClr val="FFFFFF"/>
          </a:solidFill>
          <a:ln w="12700">
            <a:solidFill>
              <a:srgbClr val="DDE9F1"/>
            </a:solidFill>
            <a:prstDash val="solid"/>
          </a:ln>
        </p:spPr>
      </p:sp>
      <p:sp>
        <p:nvSpPr>
          <p:cNvPr id="9" name="Shape 7"/>
          <p:cNvSpPr/>
          <p:nvPr/>
        </p:nvSpPr>
        <p:spPr>
          <a:xfrm>
            <a:off x="594360" y="1417320"/>
            <a:ext cx="73152" cy="2057400"/>
          </a:xfrm>
          <a:prstGeom prst="rect">
            <a:avLst/>
          </a:prstGeom>
          <a:solidFill>
            <a:srgbClr val="10B8A6"/>
          </a:solidFill>
          <a:ln w="12700">
            <a:solidFill>
              <a:srgbClr val="333333">
                <a:alpha val="0"/>
              </a:srgbClr>
            </a:solidFill>
            <a:prstDash val="solid"/>
          </a:ln>
        </p:spPr>
      </p:sp>
      <p:sp>
        <p:nvSpPr>
          <p:cNvPr id="10" name="Text 8"/>
          <p:cNvSpPr/>
          <p:nvPr/>
        </p:nvSpPr>
        <p:spPr>
          <a:xfrm>
            <a:off x="850392" y="1618488"/>
            <a:ext cx="461772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What the system is</a:t>
            </a:r>
            <a:endParaRPr lang="en-US" sz="1800" dirty="0"/>
          </a:p>
        </p:txBody>
      </p:sp>
      <p:sp>
        <p:nvSpPr>
          <p:cNvPr id="11" name="Text 9"/>
          <p:cNvSpPr/>
          <p:nvPr/>
        </p:nvSpPr>
        <p:spPr>
          <a:xfrm>
            <a:off x="850392" y="2093976"/>
            <a:ext cx="4572000" cy="12161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An educational and research decision-support prototype for reviewing CT airway case data. It helps users understand airway structure through images, features, similarity results, suspicious nodes and pathfinding routes.</a:t>
            </a:r>
            <a:endParaRPr lang="en-US" sz="1550" dirty="0"/>
          </a:p>
        </p:txBody>
      </p:sp>
      <p:sp>
        <p:nvSpPr>
          <p:cNvPr id="12" name="Shape 10"/>
          <p:cNvSpPr/>
          <p:nvPr/>
        </p:nvSpPr>
        <p:spPr>
          <a:xfrm>
            <a:off x="594360" y="3749040"/>
            <a:ext cx="5074920" cy="1691640"/>
          </a:xfrm>
          <a:prstGeom prst="roundRect">
            <a:avLst>
              <a:gd name="adj" fmla="val 4324"/>
            </a:avLst>
          </a:prstGeom>
          <a:solidFill>
            <a:srgbClr val="FFFFFF"/>
          </a:solidFill>
          <a:ln w="12700">
            <a:solidFill>
              <a:srgbClr val="DDE9F1"/>
            </a:solidFill>
            <a:prstDash val="solid"/>
          </a:ln>
        </p:spPr>
      </p:sp>
      <p:sp>
        <p:nvSpPr>
          <p:cNvPr id="13" name="Shape 11"/>
          <p:cNvSpPr/>
          <p:nvPr/>
        </p:nvSpPr>
        <p:spPr>
          <a:xfrm>
            <a:off x="594360" y="3749040"/>
            <a:ext cx="73152" cy="1691640"/>
          </a:xfrm>
          <a:prstGeom prst="rect">
            <a:avLst/>
          </a:prstGeom>
          <a:solidFill>
            <a:srgbClr val="842A49"/>
          </a:solidFill>
          <a:ln w="12700">
            <a:solidFill>
              <a:srgbClr val="333333">
                <a:alpha val="0"/>
              </a:srgbClr>
            </a:solidFill>
            <a:prstDash val="solid"/>
          </a:ln>
        </p:spPr>
      </p:sp>
      <p:sp>
        <p:nvSpPr>
          <p:cNvPr id="14" name="Text 12"/>
          <p:cNvSpPr/>
          <p:nvPr/>
        </p:nvSpPr>
        <p:spPr>
          <a:xfrm>
            <a:off x="850392" y="3950208"/>
            <a:ext cx="461772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What the system is not</a:t>
            </a:r>
            <a:endParaRPr lang="en-US" sz="1800" dirty="0"/>
          </a:p>
        </p:txBody>
      </p:sp>
      <p:sp>
        <p:nvSpPr>
          <p:cNvPr id="15" name="Text 13"/>
          <p:cNvSpPr/>
          <p:nvPr/>
        </p:nvSpPr>
        <p:spPr>
          <a:xfrm>
            <a:off x="850392" y="4425696"/>
            <a:ext cx="4572000" cy="85039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It is not a clinical diagnosis tool. The system highlights structural patterns that may need closer expert review, but it does not replace medical professionals or make final medical conclusions.</a:t>
            </a:r>
            <a:endParaRPr lang="en-US" sz="1550" dirty="0"/>
          </a:p>
        </p:txBody>
      </p:sp>
      <p:sp>
        <p:nvSpPr>
          <p:cNvPr id="16" name="Shape 14"/>
          <p:cNvSpPr/>
          <p:nvPr/>
        </p:nvSpPr>
        <p:spPr>
          <a:xfrm>
            <a:off x="6446520" y="1325880"/>
            <a:ext cx="4389120" cy="4389120"/>
          </a:xfrm>
          <a:prstGeom prst="roundRect">
            <a:avLst>
              <a:gd name="adj" fmla="val 1667"/>
            </a:avLst>
          </a:prstGeom>
          <a:solidFill>
            <a:srgbClr val="FFFFFF"/>
          </a:solidFill>
          <a:ln w="12700">
            <a:solidFill>
              <a:srgbClr val="D9E6EF"/>
            </a:solidFill>
            <a:prstDash val="solid"/>
          </a:ln>
        </p:spPr>
      </p:sp>
      <p:pic>
        <p:nvPicPr>
          <p:cNvPr id="17" name="Image 0" descr="/mnt/data/airway_final_assets/graph_panel.png">    </p:cNvPr>
          <p:cNvPicPr>
            <a:picLocks noChangeAspect="1"/>
          </p:cNvPicPr>
          <p:nvPr/>
        </p:nvPicPr>
        <p:blipFill>
          <a:blip r:embed="rId1"/>
          <a:stretch>
            <a:fillRect/>
          </a:stretch>
        </p:blipFill>
        <p:spPr>
          <a:xfrm>
            <a:off x="6519672" y="1424903"/>
            <a:ext cx="4242816" cy="4191074"/>
          </a:xfrm>
          <a:prstGeom prst="rect">
            <a:avLst/>
          </a:prstGeom>
        </p:spPr>
      </p:pic>
      <p:sp>
        <p:nvSpPr>
          <p:cNvPr id="18" name="Shape 15"/>
          <p:cNvSpPr/>
          <p:nvPr/>
        </p:nvSpPr>
        <p:spPr>
          <a:xfrm>
            <a:off x="6967728" y="5797296"/>
            <a:ext cx="3337560" cy="347472"/>
          </a:xfrm>
          <a:prstGeom prst="roundRect">
            <a:avLst>
              <a:gd name="adj" fmla="val 15789"/>
            </a:avLst>
          </a:prstGeom>
          <a:solidFill>
            <a:srgbClr val="12213A"/>
          </a:solidFill>
          <a:ln w="12700">
            <a:solidFill>
              <a:srgbClr val="333333">
                <a:alpha val="0"/>
              </a:srgbClr>
            </a:solidFill>
            <a:prstDash val="solid"/>
          </a:ln>
        </p:spPr>
      </p:sp>
      <p:sp>
        <p:nvSpPr>
          <p:cNvPr id="19" name="Text 16"/>
          <p:cNvSpPr/>
          <p:nvPr/>
        </p:nvSpPr>
        <p:spPr>
          <a:xfrm>
            <a:off x="7040880" y="5879592"/>
            <a:ext cx="319125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Graph-based airway review</a:t>
            </a:r>
            <a:endParaRPr lang="en-US" sz="820" dirty="0"/>
          </a:p>
        </p:txBody>
      </p:sp>
      <p:sp>
        <p:nvSpPr>
          <p:cNvPr id="20" name="Text 17"/>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Background and Motivation</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Why this matters in a South African medical education context</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02</a:t>
            </a:r>
            <a:endParaRPr lang="en-US" sz="850" dirty="0"/>
          </a:p>
        </p:txBody>
      </p:sp>
      <p:sp>
        <p:nvSpPr>
          <p:cNvPr id="8" name="Text 6"/>
          <p:cNvSpPr/>
          <p:nvPr/>
        </p:nvSpPr>
        <p:spPr>
          <a:xfrm>
            <a:off x="685800" y="1417320"/>
            <a:ext cx="5760720" cy="658368"/>
          </a:xfrm>
          <a:prstGeom prst="rect">
            <a:avLst/>
          </a:prstGeom>
          <a:noFill/>
          <a:ln/>
        </p:spPr>
        <p:txBody>
          <a:bodyPr wrap="square" lIns="0" tIns="0" rIns="0" bIns="0" rtlCol="0" anchor="t">
            <a:normAutofit/>
          </a:bodyPr>
          <a:lstStyle/>
          <a:p>
            <a:pPr algn="l" indent="0" marL="0">
              <a:buNone/>
            </a:pPr>
            <a:r>
              <a:rPr lang="en-US" sz="2100" b="1" dirty="0">
                <a:solidFill>
                  <a:srgbClr val="12213A"/>
                </a:solidFill>
                <a:latin typeface="Aptos" pitchFamily="34" charset="0"/>
                <a:ea typeface="Aptos" pitchFamily="34" charset="-122"/>
                <a:cs typeface="Aptos" pitchFamily="34" charset="-120"/>
              </a:rPr>
              <a:t>South Africa faces serious respiratory-health challenges, while CT medical imaging is complex and not always easy to interpret.</a:t>
            </a:r>
            <a:endParaRPr lang="en-US" sz="2100" dirty="0"/>
          </a:p>
        </p:txBody>
      </p:sp>
      <p:sp>
        <p:nvSpPr>
          <p:cNvPr id="9" name="Text 7"/>
          <p:cNvSpPr/>
          <p:nvPr/>
        </p:nvSpPr>
        <p:spPr>
          <a:xfrm>
            <a:off x="713232" y="2331720"/>
            <a:ext cx="5349240" cy="1115568"/>
          </a:xfrm>
          <a:prstGeom prst="rect">
            <a:avLst/>
          </a:prstGeom>
          <a:noFill/>
          <a:ln/>
        </p:spPr>
        <p:txBody>
          <a:bodyPr wrap="square" lIns="0" tIns="0" rIns="0" bIns="0" rtlCol="0" anchor="t">
            <a:normAutofit/>
          </a:bodyPr>
          <a:lstStyle/>
          <a:p>
            <a:pPr algn="l" indent="0" marL="0">
              <a:buNone/>
            </a:pPr>
            <a:r>
              <a:rPr lang="en-US" sz="1700" dirty="0">
                <a:solidFill>
                  <a:srgbClr val="162033"/>
                </a:solidFill>
                <a:latin typeface="Aptos" pitchFamily="34" charset="0"/>
                <a:ea typeface="Aptos" pitchFamily="34" charset="-122"/>
                <a:cs typeface="Aptos" pitchFamily="34" charset="-120"/>
              </a:rPr>
              <a:t>The motivation is to make airway scan information easier to inspect, explain and study. By transforming CT airway data into visual and structural summaries, the system can support students, researchers, lecturers and medical reviewers.</a:t>
            </a:r>
            <a:endParaRPr lang="en-US" sz="1700" dirty="0"/>
          </a:p>
        </p:txBody>
      </p:sp>
      <p:sp>
        <p:nvSpPr>
          <p:cNvPr id="10" name="Shape 8"/>
          <p:cNvSpPr/>
          <p:nvPr/>
        </p:nvSpPr>
        <p:spPr>
          <a:xfrm>
            <a:off x="713232" y="3913632"/>
            <a:ext cx="1143000" cy="438912"/>
          </a:xfrm>
          <a:prstGeom prst="roundRect">
            <a:avLst>
              <a:gd name="adj" fmla="val 20833"/>
            </a:avLst>
          </a:prstGeom>
          <a:solidFill>
            <a:srgbClr val="10B8A6"/>
          </a:solidFill>
          <a:ln w="12700">
            <a:solidFill>
              <a:srgbClr val="333333">
                <a:alpha val="0"/>
              </a:srgbClr>
            </a:solidFill>
            <a:prstDash val="solid"/>
          </a:ln>
        </p:spPr>
      </p:sp>
      <p:sp>
        <p:nvSpPr>
          <p:cNvPr id="11" name="Text 9"/>
          <p:cNvSpPr/>
          <p:nvPr/>
        </p:nvSpPr>
        <p:spPr>
          <a:xfrm>
            <a:off x="786384" y="4050792"/>
            <a:ext cx="9966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Education</a:t>
            </a:r>
            <a:endParaRPr lang="en-US" sz="850" dirty="0"/>
          </a:p>
        </p:txBody>
      </p:sp>
      <p:sp>
        <p:nvSpPr>
          <p:cNvPr id="12" name="Shape 10"/>
          <p:cNvSpPr/>
          <p:nvPr/>
        </p:nvSpPr>
        <p:spPr>
          <a:xfrm>
            <a:off x="2057400" y="3913632"/>
            <a:ext cx="1143000" cy="438912"/>
          </a:xfrm>
          <a:prstGeom prst="roundRect">
            <a:avLst>
              <a:gd name="adj" fmla="val 20833"/>
            </a:avLst>
          </a:prstGeom>
          <a:solidFill>
            <a:srgbClr val="842A49"/>
          </a:solidFill>
          <a:ln w="12700">
            <a:solidFill>
              <a:srgbClr val="333333">
                <a:alpha val="0"/>
              </a:srgbClr>
            </a:solidFill>
            <a:prstDash val="solid"/>
          </a:ln>
        </p:spPr>
      </p:sp>
      <p:sp>
        <p:nvSpPr>
          <p:cNvPr id="13" name="Text 11"/>
          <p:cNvSpPr/>
          <p:nvPr/>
        </p:nvSpPr>
        <p:spPr>
          <a:xfrm>
            <a:off x="2130552" y="4050792"/>
            <a:ext cx="9966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Research</a:t>
            </a:r>
            <a:endParaRPr lang="en-US" sz="850" dirty="0"/>
          </a:p>
        </p:txBody>
      </p:sp>
      <p:sp>
        <p:nvSpPr>
          <p:cNvPr id="14" name="Shape 12"/>
          <p:cNvSpPr/>
          <p:nvPr/>
        </p:nvSpPr>
        <p:spPr>
          <a:xfrm>
            <a:off x="3401568" y="3913632"/>
            <a:ext cx="1828800" cy="438912"/>
          </a:xfrm>
          <a:prstGeom prst="roundRect">
            <a:avLst>
              <a:gd name="adj" fmla="val 20833"/>
            </a:avLst>
          </a:prstGeom>
          <a:solidFill>
            <a:srgbClr val="12213A"/>
          </a:solidFill>
          <a:ln w="12700">
            <a:solidFill>
              <a:srgbClr val="333333">
                <a:alpha val="0"/>
              </a:srgbClr>
            </a:solidFill>
            <a:prstDash val="solid"/>
          </a:ln>
        </p:spPr>
      </p:sp>
      <p:sp>
        <p:nvSpPr>
          <p:cNvPr id="15" name="Text 13"/>
          <p:cNvSpPr/>
          <p:nvPr/>
        </p:nvSpPr>
        <p:spPr>
          <a:xfrm>
            <a:off x="3474720" y="4050792"/>
            <a:ext cx="16824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Expert review support</a:t>
            </a:r>
            <a:endParaRPr lang="en-US" sz="850" dirty="0"/>
          </a:p>
        </p:txBody>
      </p:sp>
      <p:sp>
        <p:nvSpPr>
          <p:cNvPr id="16" name="Shape 14"/>
          <p:cNvSpPr/>
          <p:nvPr/>
        </p:nvSpPr>
        <p:spPr>
          <a:xfrm>
            <a:off x="6629400" y="1234440"/>
            <a:ext cx="2377440" cy="2377440"/>
          </a:xfrm>
          <a:prstGeom prst="roundRect">
            <a:avLst>
              <a:gd name="adj" fmla="val 3077"/>
            </a:avLst>
          </a:prstGeom>
          <a:solidFill>
            <a:srgbClr val="FFFFFF"/>
          </a:solidFill>
          <a:ln w="12700">
            <a:solidFill>
              <a:srgbClr val="D9E6EF"/>
            </a:solidFill>
            <a:prstDash val="solid"/>
          </a:ln>
        </p:spPr>
      </p:sp>
      <p:pic>
        <p:nvPicPr>
          <p:cNvPr id="17" name="Image 0" descr="/mnt/data/airway_final_assets/compressed_panel.png">    </p:cNvPr>
          <p:cNvPicPr>
            <a:picLocks noChangeAspect="1"/>
          </p:cNvPicPr>
          <p:nvPr/>
        </p:nvPicPr>
        <p:blipFill>
          <a:blip r:embed="rId1"/>
          <a:stretch>
            <a:fillRect/>
          </a:stretch>
        </p:blipFill>
        <p:spPr>
          <a:xfrm>
            <a:off x="6702552" y="1321196"/>
            <a:ext cx="2231136" cy="2203927"/>
          </a:xfrm>
          <a:prstGeom prst="rect">
            <a:avLst/>
          </a:prstGeom>
        </p:spPr>
      </p:pic>
      <p:sp>
        <p:nvSpPr>
          <p:cNvPr id="18" name="Shape 15"/>
          <p:cNvSpPr/>
          <p:nvPr/>
        </p:nvSpPr>
        <p:spPr>
          <a:xfrm>
            <a:off x="9189720" y="1234440"/>
            <a:ext cx="2377440" cy="2377440"/>
          </a:xfrm>
          <a:prstGeom prst="roundRect">
            <a:avLst>
              <a:gd name="adj" fmla="val 3077"/>
            </a:avLst>
          </a:prstGeom>
          <a:solidFill>
            <a:srgbClr val="FFFFFF"/>
          </a:solidFill>
          <a:ln w="12700">
            <a:solidFill>
              <a:srgbClr val="D9E6EF"/>
            </a:solidFill>
            <a:prstDash val="solid"/>
          </a:ln>
        </p:spPr>
      </p:sp>
      <p:pic>
        <p:nvPicPr>
          <p:cNvPr id="19" name="Image 1" descr="/mnt/data/airway_final_assets/edge_panel.png">    </p:cNvPr>
          <p:cNvPicPr>
            <a:picLocks noChangeAspect="1"/>
          </p:cNvPicPr>
          <p:nvPr/>
        </p:nvPicPr>
        <p:blipFill>
          <a:blip r:embed="rId2"/>
          <a:stretch>
            <a:fillRect/>
          </a:stretch>
        </p:blipFill>
        <p:spPr>
          <a:xfrm>
            <a:off x="9262872" y="1321196"/>
            <a:ext cx="2231136" cy="2203927"/>
          </a:xfrm>
          <a:prstGeom prst="rect">
            <a:avLst/>
          </a:prstGeom>
        </p:spPr>
      </p:pic>
      <p:sp>
        <p:nvSpPr>
          <p:cNvPr id="20" name="Shape 16"/>
          <p:cNvSpPr/>
          <p:nvPr/>
        </p:nvSpPr>
        <p:spPr>
          <a:xfrm>
            <a:off x="7909560" y="3767328"/>
            <a:ext cx="2423160" cy="2331720"/>
          </a:xfrm>
          <a:prstGeom prst="roundRect">
            <a:avLst>
              <a:gd name="adj" fmla="val 3137"/>
            </a:avLst>
          </a:prstGeom>
          <a:solidFill>
            <a:srgbClr val="FFFFFF"/>
          </a:solidFill>
          <a:ln w="12700">
            <a:solidFill>
              <a:srgbClr val="D9E6EF"/>
            </a:solidFill>
            <a:prstDash val="solid"/>
          </a:ln>
        </p:spPr>
      </p:sp>
      <p:pic>
        <p:nvPicPr>
          <p:cNvPr id="21" name="Image 2" descr="/mnt/data/airway_final_assets/graph_panel.png">    </p:cNvPr>
          <p:cNvPicPr>
            <a:picLocks noChangeAspect="1"/>
          </p:cNvPicPr>
          <p:nvPr/>
        </p:nvPicPr>
        <p:blipFill>
          <a:blip r:embed="rId3"/>
          <a:stretch>
            <a:fillRect/>
          </a:stretch>
        </p:blipFill>
        <p:spPr>
          <a:xfrm>
            <a:off x="8014942" y="3840480"/>
            <a:ext cx="2212396" cy="2185416"/>
          </a:xfrm>
          <a:prstGeom prst="rect">
            <a:avLst/>
          </a:prstGeom>
        </p:spPr>
      </p:pic>
      <p:sp>
        <p:nvSpPr>
          <p:cNvPr id="22" name="Text 17"/>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Problem Statement</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The core problem the system addresses</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03</a:t>
            </a:r>
            <a:endParaRPr lang="en-US" sz="850" dirty="0"/>
          </a:p>
        </p:txBody>
      </p:sp>
      <p:sp>
        <p:nvSpPr>
          <p:cNvPr id="8" name="Text 6"/>
          <p:cNvSpPr/>
          <p:nvPr/>
        </p:nvSpPr>
        <p:spPr>
          <a:xfrm>
            <a:off x="640080" y="1417320"/>
            <a:ext cx="10241280" cy="621792"/>
          </a:xfrm>
          <a:prstGeom prst="rect">
            <a:avLst/>
          </a:prstGeom>
          <a:noFill/>
          <a:ln/>
        </p:spPr>
        <p:txBody>
          <a:bodyPr wrap="square" lIns="0" tIns="0" rIns="0" bIns="0" rtlCol="0" anchor="t">
            <a:normAutofit/>
          </a:bodyPr>
          <a:lstStyle/>
          <a:p>
            <a:pPr algn="l" indent="0" marL="0">
              <a:buNone/>
            </a:pPr>
            <a:r>
              <a:rPr lang="en-US" sz="2700" b="1" dirty="0">
                <a:solidFill>
                  <a:srgbClr val="12213A"/>
                </a:solidFill>
                <a:latin typeface="Aptos" pitchFamily="34" charset="0"/>
                <a:ea typeface="Aptos" pitchFamily="34" charset="-122"/>
                <a:cs typeface="Aptos" pitchFamily="34" charset="-120"/>
              </a:rPr>
              <a:t>CT airway data is complex, difficult to interpret, and hard to simplify into useful structural information.</a:t>
            </a:r>
            <a:endParaRPr lang="en-US" sz="2700" dirty="0"/>
          </a:p>
        </p:txBody>
      </p:sp>
      <p:sp>
        <p:nvSpPr>
          <p:cNvPr id="9" name="Shape 7"/>
          <p:cNvSpPr/>
          <p:nvPr/>
        </p:nvSpPr>
        <p:spPr>
          <a:xfrm>
            <a:off x="685800" y="2423160"/>
            <a:ext cx="3429000" cy="2286000"/>
          </a:xfrm>
          <a:prstGeom prst="roundRect">
            <a:avLst>
              <a:gd name="adj" fmla="val 3200"/>
            </a:avLst>
          </a:prstGeom>
          <a:solidFill>
            <a:srgbClr val="FFFFFF"/>
          </a:solidFill>
          <a:ln w="12700">
            <a:solidFill>
              <a:srgbClr val="DDE9F1"/>
            </a:solidFill>
            <a:prstDash val="solid"/>
          </a:ln>
        </p:spPr>
      </p:sp>
      <p:sp>
        <p:nvSpPr>
          <p:cNvPr id="10" name="Shape 8"/>
          <p:cNvSpPr/>
          <p:nvPr/>
        </p:nvSpPr>
        <p:spPr>
          <a:xfrm>
            <a:off x="685800" y="2423160"/>
            <a:ext cx="73152" cy="2286000"/>
          </a:xfrm>
          <a:prstGeom prst="rect">
            <a:avLst/>
          </a:prstGeom>
          <a:solidFill>
            <a:srgbClr val="842A49"/>
          </a:solidFill>
          <a:ln w="12700">
            <a:solidFill>
              <a:srgbClr val="333333">
                <a:alpha val="0"/>
              </a:srgbClr>
            </a:solidFill>
            <a:prstDash val="solid"/>
          </a:ln>
        </p:spPr>
      </p:sp>
      <p:sp>
        <p:nvSpPr>
          <p:cNvPr id="11" name="Text 9"/>
          <p:cNvSpPr/>
          <p:nvPr/>
        </p:nvSpPr>
        <p:spPr>
          <a:xfrm>
            <a:off x="941832" y="2624328"/>
            <a:ext cx="297180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The challenge</a:t>
            </a:r>
            <a:endParaRPr lang="en-US" sz="1800" dirty="0"/>
          </a:p>
        </p:txBody>
      </p:sp>
      <p:sp>
        <p:nvSpPr>
          <p:cNvPr id="12" name="Text 10"/>
          <p:cNvSpPr/>
          <p:nvPr/>
        </p:nvSpPr>
        <p:spPr>
          <a:xfrm>
            <a:off x="941832" y="3099816"/>
            <a:ext cx="2926080" cy="14447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The airway tree is three-dimensional, highly branched and spread across many image slices. This makes it difficult to locate regions that may require closer attention.</a:t>
            </a:r>
            <a:endParaRPr lang="en-US" sz="1550" dirty="0"/>
          </a:p>
        </p:txBody>
      </p:sp>
      <p:sp>
        <p:nvSpPr>
          <p:cNvPr id="13" name="Shape 11"/>
          <p:cNvSpPr/>
          <p:nvPr/>
        </p:nvSpPr>
        <p:spPr>
          <a:xfrm>
            <a:off x="4526280" y="2423160"/>
            <a:ext cx="3429000" cy="2286000"/>
          </a:xfrm>
          <a:prstGeom prst="roundRect">
            <a:avLst>
              <a:gd name="adj" fmla="val 3200"/>
            </a:avLst>
          </a:prstGeom>
          <a:solidFill>
            <a:srgbClr val="FFFFFF"/>
          </a:solidFill>
          <a:ln w="12700">
            <a:solidFill>
              <a:srgbClr val="DDE9F1"/>
            </a:solidFill>
            <a:prstDash val="solid"/>
          </a:ln>
        </p:spPr>
      </p:sp>
      <p:sp>
        <p:nvSpPr>
          <p:cNvPr id="14" name="Shape 12"/>
          <p:cNvSpPr/>
          <p:nvPr/>
        </p:nvSpPr>
        <p:spPr>
          <a:xfrm>
            <a:off x="4526280" y="2423160"/>
            <a:ext cx="73152" cy="2286000"/>
          </a:xfrm>
          <a:prstGeom prst="rect">
            <a:avLst/>
          </a:prstGeom>
          <a:solidFill>
            <a:srgbClr val="10B8A6"/>
          </a:solidFill>
          <a:ln w="12700">
            <a:solidFill>
              <a:srgbClr val="333333">
                <a:alpha val="0"/>
              </a:srgbClr>
            </a:solidFill>
            <a:prstDash val="solid"/>
          </a:ln>
        </p:spPr>
      </p:sp>
      <p:sp>
        <p:nvSpPr>
          <p:cNvPr id="15" name="Text 13"/>
          <p:cNvSpPr/>
          <p:nvPr/>
        </p:nvSpPr>
        <p:spPr>
          <a:xfrm>
            <a:off x="4782312" y="2624328"/>
            <a:ext cx="297180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Our response</a:t>
            </a:r>
            <a:endParaRPr lang="en-US" sz="1800" dirty="0"/>
          </a:p>
        </p:txBody>
      </p:sp>
      <p:sp>
        <p:nvSpPr>
          <p:cNvPr id="16" name="Text 14"/>
          <p:cNvSpPr/>
          <p:nvPr/>
        </p:nvSpPr>
        <p:spPr>
          <a:xfrm>
            <a:off x="4782312" y="3099816"/>
            <a:ext cx="2926080" cy="14447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The system converts CT airway data into visual outputs, graph structures, feature categories, similarity results, suspicious regions and pathfinding routes.</a:t>
            </a:r>
            <a:endParaRPr lang="en-US" sz="1550" dirty="0"/>
          </a:p>
        </p:txBody>
      </p:sp>
      <p:sp>
        <p:nvSpPr>
          <p:cNvPr id="17" name="Shape 15"/>
          <p:cNvSpPr/>
          <p:nvPr/>
        </p:nvSpPr>
        <p:spPr>
          <a:xfrm>
            <a:off x="8339328" y="2423160"/>
            <a:ext cx="3063240" cy="2286000"/>
          </a:xfrm>
          <a:prstGeom prst="roundRect">
            <a:avLst>
              <a:gd name="adj" fmla="val 3200"/>
            </a:avLst>
          </a:prstGeom>
          <a:solidFill>
            <a:srgbClr val="FFFFFF"/>
          </a:solidFill>
          <a:ln w="12700">
            <a:solidFill>
              <a:srgbClr val="D9E6EF"/>
            </a:solidFill>
            <a:prstDash val="solid"/>
          </a:ln>
        </p:spPr>
      </p:sp>
      <p:pic>
        <p:nvPicPr>
          <p:cNvPr id="18" name="Image 0" descr="/mnt/data/airway_final_assets/ui_top.png">    </p:cNvPr>
          <p:cNvPicPr>
            <a:picLocks noChangeAspect="1"/>
          </p:cNvPicPr>
          <p:nvPr/>
        </p:nvPicPr>
        <p:blipFill>
          <a:blip r:embed="rId1"/>
          <a:srcRect l="26912" r="26912" t="0" b="0"/>
          <a:stretch/>
        </p:blipFill>
        <p:spPr>
          <a:xfrm>
            <a:off x="8412480" y="2496312"/>
            <a:ext cx="2916936" cy="2139696"/>
          </a:xfrm>
          <a:prstGeom prst="rect">
            <a:avLst/>
          </a:prstGeom>
        </p:spPr>
      </p:pic>
      <p:sp>
        <p:nvSpPr>
          <p:cNvPr id="19" name="Text 16"/>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Project Objectives</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What the system was built to achieve</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04</a:t>
            </a:r>
            <a:endParaRPr lang="en-US" sz="850" dirty="0"/>
          </a:p>
        </p:txBody>
      </p:sp>
      <p:sp>
        <p:nvSpPr>
          <p:cNvPr id="8" name="Text 6"/>
          <p:cNvSpPr/>
          <p:nvPr/>
        </p:nvSpPr>
        <p:spPr>
          <a:xfrm>
            <a:off x="640080" y="1298448"/>
            <a:ext cx="10789920" cy="749808"/>
          </a:xfrm>
          <a:prstGeom prst="rect">
            <a:avLst/>
          </a:prstGeom>
          <a:noFill/>
          <a:ln/>
        </p:spPr>
        <p:txBody>
          <a:bodyPr wrap="square" lIns="0" tIns="0" rIns="0" bIns="0" rtlCol="0" anchor="t">
            <a:normAutofit/>
          </a:bodyPr>
          <a:lstStyle/>
          <a:p>
            <a:pPr algn="l" indent="0" marL="0">
              <a:buNone/>
            </a:pPr>
            <a:r>
              <a:rPr lang="en-US" sz="2200" b="1" dirty="0">
                <a:solidFill>
                  <a:srgbClr val="12213A"/>
                </a:solidFill>
                <a:latin typeface="Aptos" pitchFamily="34" charset="0"/>
                <a:ea typeface="Aptos" pitchFamily="34" charset="-122"/>
                <a:cs typeface="Aptos" pitchFamily="34" charset="-120"/>
              </a:rPr>
              <a:t>To develop a Java desktop-based Airway Analysis System that converts complex CT airway case data into a simplified visual, numerical and graph-based representation.</a:t>
            </a:r>
            <a:endParaRPr lang="en-US" sz="2200" dirty="0"/>
          </a:p>
        </p:txBody>
      </p:sp>
      <p:sp>
        <p:nvSpPr>
          <p:cNvPr id="9" name="Shape 7"/>
          <p:cNvSpPr/>
          <p:nvPr/>
        </p:nvSpPr>
        <p:spPr>
          <a:xfrm>
            <a:off x="685800" y="2423160"/>
            <a:ext cx="2423160" cy="2651760"/>
          </a:xfrm>
          <a:prstGeom prst="roundRect">
            <a:avLst>
              <a:gd name="adj" fmla="val 3019"/>
            </a:avLst>
          </a:prstGeom>
          <a:solidFill>
            <a:srgbClr val="FFFFFF"/>
          </a:solidFill>
          <a:ln w="12700">
            <a:solidFill>
              <a:srgbClr val="DDE9F1"/>
            </a:solidFill>
            <a:prstDash val="solid"/>
          </a:ln>
        </p:spPr>
      </p:sp>
      <p:sp>
        <p:nvSpPr>
          <p:cNvPr id="10" name="Shape 8"/>
          <p:cNvSpPr/>
          <p:nvPr/>
        </p:nvSpPr>
        <p:spPr>
          <a:xfrm>
            <a:off x="685800" y="2423160"/>
            <a:ext cx="2423160" cy="109728"/>
          </a:xfrm>
          <a:prstGeom prst="rect">
            <a:avLst/>
          </a:prstGeom>
          <a:solidFill>
            <a:srgbClr val="10B8A6"/>
          </a:solidFill>
          <a:ln w="12700">
            <a:solidFill>
              <a:srgbClr val="333333">
                <a:alpha val="0"/>
              </a:srgbClr>
            </a:solidFill>
            <a:prstDash val="solid"/>
          </a:ln>
        </p:spPr>
      </p:sp>
      <p:sp>
        <p:nvSpPr>
          <p:cNvPr id="11" name="Text 9"/>
          <p:cNvSpPr/>
          <p:nvPr/>
        </p:nvSpPr>
        <p:spPr>
          <a:xfrm>
            <a:off x="832104" y="2697480"/>
            <a:ext cx="457200" cy="256032"/>
          </a:xfrm>
          <a:prstGeom prst="rect">
            <a:avLst/>
          </a:prstGeom>
          <a:noFill/>
          <a:ln/>
        </p:spPr>
        <p:txBody>
          <a:bodyPr wrap="square" lIns="0" tIns="0" rIns="0" bIns="0" rtlCol="0" anchor="t">
            <a:normAutofit/>
          </a:bodyPr>
          <a:lstStyle/>
          <a:p>
            <a:pPr algn="l" indent="0" marL="0">
              <a:buNone/>
            </a:pPr>
            <a:r>
              <a:rPr lang="en-US" sz="1200" b="1" dirty="0">
                <a:solidFill>
                  <a:srgbClr val="10B8A6"/>
                </a:solidFill>
                <a:latin typeface="Aptos" pitchFamily="34" charset="0"/>
                <a:ea typeface="Aptos" pitchFamily="34" charset="-122"/>
                <a:cs typeface="Aptos" pitchFamily="34" charset="-120"/>
              </a:rPr>
              <a:t>01</a:t>
            </a:r>
            <a:endParaRPr lang="en-US" sz="1200" dirty="0"/>
          </a:p>
        </p:txBody>
      </p:sp>
      <p:sp>
        <p:nvSpPr>
          <p:cNvPr id="12" name="Text 10"/>
          <p:cNvSpPr/>
          <p:nvPr/>
        </p:nvSpPr>
        <p:spPr>
          <a:xfrm>
            <a:off x="850392" y="3063240"/>
            <a:ext cx="2084832" cy="347472"/>
          </a:xfrm>
          <a:prstGeom prst="rect">
            <a:avLst/>
          </a:prstGeom>
          <a:noFill/>
          <a:ln/>
        </p:spPr>
        <p:txBody>
          <a:bodyPr wrap="square" lIns="0" tIns="0" rIns="0" bIns="0" rtlCol="0" anchor="t">
            <a:normAutofit/>
          </a:bodyPr>
          <a:lstStyle/>
          <a:p>
            <a:pPr algn="l" indent="0" marL="0">
              <a:buNone/>
            </a:pPr>
            <a:r>
              <a:rPr lang="en-US" sz="1600" b="1" dirty="0">
                <a:solidFill>
                  <a:srgbClr val="12213A"/>
                </a:solidFill>
                <a:latin typeface="Aptos" pitchFamily="34" charset="0"/>
                <a:ea typeface="Aptos" pitchFamily="34" charset="-122"/>
                <a:cs typeface="Aptos" pitchFamily="34" charset="-120"/>
              </a:rPr>
              <a:t>Process CT data</a:t>
            </a:r>
            <a:endParaRPr lang="en-US" sz="1600" dirty="0"/>
          </a:p>
        </p:txBody>
      </p:sp>
      <p:sp>
        <p:nvSpPr>
          <p:cNvPr id="13" name="Text 11"/>
          <p:cNvSpPr/>
          <p:nvPr/>
        </p:nvSpPr>
        <p:spPr>
          <a:xfrm>
            <a:off x="850392" y="3703320"/>
            <a:ext cx="2084832" cy="1005840"/>
          </a:xfrm>
          <a:prstGeom prst="rect">
            <a:avLst/>
          </a:prstGeom>
          <a:noFill/>
          <a:ln/>
        </p:spPr>
        <p:txBody>
          <a:bodyPr wrap="square" lIns="0" tIns="0" rIns="0" bIns="0" rtlCol="0" anchor="t">
            <a:normAutofit/>
          </a:bodyPr>
          <a:lstStyle/>
          <a:p>
            <a:pPr algn="l" indent="0" marL="0">
              <a:buNone/>
            </a:pPr>
            <a:r>
              <a:rPr lang="en-US" sz="1320" dirty="0">
                <a:solidFill>
                  <a:srgbClr val="162033"/>
                </a:solidFill>
                <a:latin typeface="Aptos" pitchFamily="34" charset="0"/>
                <a:ea typeface="Aptos" pitchFamily="34" charset="-122"/>
                <a:cs typeface="Aptos" pitchFamily="34" charset="-120"/>
              </a:rPr>
              <a:t>Convert case files into PNG slices and one final airway image.</a:t>
            </a:r>
            <a:endParaRPr lang="en-US" sz="1320" dirty="0"/>
          </a:p>
        </p:txBody>
      </p:sp>
      <p:sp>
        <p:nvSpPr>
          <p:cNvPr id="14" name="Shape 12"/>
          <p:cNvSpPr/>
          <p:nvPr/>
        </p:nvSpPr>
        <p:spPr>
          <a:xfrm>
            <a:off x="3584448" y="2423160"/>
            <a:ext cx="2423160" cy="2651760"/>
          </a:xfrm>
          <a:prstGeom prst="roundRect">
            <a:avLst>
              <a:gd name="adj" fmla="val 3019"/>
            </a:avLst>
          </a:prstGeom>
          <a:solidFill>
            <a:srgbClr val="FFFFFF"/>
          </a:solidFill>
          <a:ln w="12700">
            <a:solidFill>
              <a:srgbClr val="DDE9F1"/>
            </a:solidFill>
            <a:prstDash val="solid"/>
          </a:ln>
        </p:spPr>
      </p:sp>
      <p:sp>
        <p:nvSpPr>
          <p:cNvPr id="15" name="Shape 13"/>
          <p:cNvSpPr/>
          <p:nvPr/>
        </p:nvSpPr>
        <p:spPr>
          <a:xfrm>
            <a:off x="3584448" y="2423160"/>
            <a:ext cx="2423160" cy="109728"/>
          </a:xfrm>
          <a:prstGeom prst="rect">
            <a:avLst/>
          </a:prstGeom>
          <a:solidFill>
            <a:srgbClr val="842A49"/>
          </a:solidFill>
          <a:ln w="12700">
            <a:solidFill>
              <a:srgbClr val="333333">
                <a:alpha val="0"/>
              </a:srgbClr>
            </a:solidFill>
            <a:prstDash val="solid"/>
          </a:ln>
        </p:spPr>
      </p:sp>
      <p:sp>
        <p:nvSpPr>
          <p:cNvPr id="16" name="Text 14"/>
          <p:cNvSpPr/>
          <p:nvPr/>
        </p:nvSpPr>
        <p:spPr>
          <a:xfrm>
            <a:off x="3730752" y="2697480"/>
            <a:ext cx="457200" cy="256032"/>
          </a:xfrm>
          <a:prstGeom prst="rect">
            <a:avLst/>
          </a:prstGeom>
          <a:noFill/>
          <a:ln/>
        </p:spPr>
        <p:txBody>
          <a:bodyPr wrap="square" lIns="0" tIns="0" rIns="0" bIns="0" rtlCol="0" anchor="t">
            <a:normAutofit/>
          </a:bodyPr>
          <a:lstStyle/>
          <a:p>
            <a:pPr algn="l" indent="0" marL="0">
              <a:buNone/>
            </a:pPr>
            <a:r>
              <a:rPr lang="en-US" sz="1200" b="1" dirty="0">
                <a:solidFill>
                  <a:srgbClr val="842A49"/>
                </a:solidFill>
                <a:latin typeface="Aptos" pitchFamily="34" charset="0"/>
                <a:ea typeface="Aptos" pitchFamily="34" charset="-122"/>
                <a:cs typeface="Aptos" pitchFamily="34" charset="-120"/>
              </a:rPr>
              <a:t>02</a:t>
            </a:r>
            <a:endParaRPr lang="en-US" sz="1200" dirty="0"/>
          </a:p>
        </p:txBody>
      </p:sp>
      <p:sp>
        <p:nvSpPr>
          <p:cNvPr id="17" name="Text 15"/>
          <p:cNvSpPr/>
          <p:nvPr/>
        </p:nvSpPr>
        <p:spPr>
          <a:xfrm>
            <a:off x="3749040" y="3063240"/>
            <a:ext cx="2084832" cy="347472"/>
          </a:xfrm>
          <a:prstGeom prst="rect">
            <a:avLst/>
          </a:prstGeom>
          <a:noFill/>
          <a:ln/>
        </p:spPr>
        <p:txBody>
          <a:bodyPr wrap="square" lIns="0" tIns="0" rIns="0" bIns="0" rtlCol="0" anchor="t">
            <a:normAutofit/>
          </a:bodyPr>
          <a:lstStyle/>
          <a:p>
            <a:pPr algn="l" indent="0" marL="0">
              <a:buNone/>
            </a:pPr>
            <a:r>
              <a:rPr lang="en-US" sz="1600" b="1" dirty="0">
                <a:solidFill>
                  <a:srgbClr val="12213A"/>
                </a:solidFill>
                <a:latin typeface="Aptos" pitchFamily="34" charset="0"/>
                <a:ea typeface="Aptos" pitchFamily="34" charset="-122"/>
                <a:cs typeface="Aptos" pitchFamily="34" charset="-120"/>
              </a:rPr>
              <a:t>Build graph structure</a:t>
            </a:r>
            <a:endParaRPr lang="en-US" sz="1600" dirty="0"/>
          </a:p>
        </p:txBody>
      </p:sp>
      <p:sp>
        <p:nvSpPr>
          <p:cNvPr id="18" name="Text 16"/>
          <p:cNvSpPr/>
          <p:nvPr/>
        </p:nvSpPr>
        <p:spPr>
          <a:xfrm>
            <a:off x="3749040" y="3703320"/>
            <a:ext cx="2084832" cy="1005840"/>
          </a:xfrm>
          <a:prstGeom prst="rect">
            <a:avLst/>
          </a:prstGeom>
          <a:noFill/>
          <a:ln/>
        </p:spPr>
        <p:txBody>
          <a:bodyPr wrap="square" lIns="0" tIns="0" rIns="0" bIns="0" rtlCol="0" anchor="t">
            <a:normAutofit/>
          </a:bodyPr>
          <a:lstStyle/>
          <a:p>
            <a:pPr algn="l" indent="0" marL="0">
              <a:buNone/>
            </a:pPr>
            <a:r>
              <a:rPr lang="en-US" sz="1320" dirty="0">
                <a:solidFill>
                  <a:srgbClr val="162033"/>
                </a:solidFill>
                <a:latin typeface="Aptos" pitchFamily="34" charset="0"/>
                <a:ea typeface="Aptos" pitchFamily="34" charset="-122"/>
                <a:cs typeface="Aptos" pitchFamily="34" charset="-120"/>
              </a:rPr>
              <a:t>Represent branch points/endpoints as nodes and airway segments as edges.</a:t>
            </a:r>
            <a:endParaRPr lang="en-US" sz="1320" dirty="0"/>
          </a:p>
        </p:txBody>
      </p:sp>
      <p:sp>
        <p:nvSpPr>
          <p:cNvPr id="19" name="Shape 17"/>
          <p:cNvSpPr/>
          <p:nvPr/>
        </p:nvSpPr>
        <p:spPr>
          <a:xfrm>
            <a:off x="6483096" y="2423160"/>
            <a:ext cx="2423160" cy="2651760"/>
          </a:xfrm>
          <a:prstGeom prst="roundRect">
            <a:avLst>
              <a:gd name="adj" fmla="val 3019"/>
            </a:avLst>
          </a:prstGeom>
          <a:solidFill>
            <a:srgbClr val="FFFFFF"/>
          </a:solidFill>
          <a:ln w="12700">
            <a:solidFill>
              <a:srgbClr val="DDE9F1"/>
            </a:solidFill>
            <a:prstDash val="solid"/>
          </a:ln>
        </p:spPr>
      </p:sp>
      <p:sp>
        <p:nvSpPr>
          <p:cNvPr id="20" name="Shape 18"/>
          <p:cNvSpPr/>
          <p:nvPr/>
        </p:nvSpPr>
        <p:spPr>
          <a:xfrm>
            <a:off x="6483096" y="2423160"/>
            <a:ext cx="2423160" cy="109728"/>
          </a:xfrm>
          <a:prstGeom prst="rect">
            <a:avLst/>
          </a:prstGeom>
          <a:solidFill>
            <a:srgbClr val="10B8A6"/>
          </a:solidFill>
          <a:ln w="12700">
            <a:solidFill>
              <a:srgbClr val="333333">
                <a:alpha val="0"/>
              </a:srgbClr>
            </a:solidFill>
            <a:prstDash val="solid"/>
          </a:ln>
        </p:spPr>
      </p:sp>
      <p:sp>
        <p:nvSpPr>
          <p:cNvPr id="21" name="Text 19"/>
          <p:cNvSpPr/>
          <p:nvPr/>
        </p:nvSpPr>
        <p:spPr>
          <a:xfrm>
            <a:off x="6629400" y="2697480"/>
            <a:ext cx="457200" cy="256032"/>
          </a:xfrm>
          <a:prstGeom prst="rect">
            <a:avLst/>
          </a:prstGeom>
          <a:noFill/>
          <a:ln/>
        </p:spPr>
        <p:txBody>
          <a:bodyPr wrap="square" lIns="0" tIns="0" rIns="0" bIns="0" rtlCol="0" anchor="t">
            <a:normAutofit/>
          </a:bodyPr>
          <a:lstStyle/>
          <a:p>
            <a:pPr algn="l" indent="0" marL="0">
              <a:buNone/>
            </a:pPr>
            <a:r>
              <a:rPr lang="en-US" sz="1200" b="1" dirty="0">
                <a:solidFill>
                  <a:srgbClr val="10B8A6"/>
                </a:solidFill>
                <a:latin typeface="Aptos" pitchFamily="34" charset="0"/>
                <a:ea typeface="Aptos" pitchFamily="34" charset="-122"/>
                <a:cs typeface="Aptos" pitchFamily="34" charset="-120"/>
              </a:rPr>
              <a:t>03</a:t>
            </a:r>
            <a:endParaRPr lang="en-US" sz="1200" dirty="0"/>
          </a:p>
        </p:txBody>
      </p:sp>
      <p:sp>
        <p:nvSpPr>
          <p:cNvPr id="22" name="Text 20"/>
          <p:cNvSpPr/>
          <p:nvPr/>
        </p:nvSpPr>
        <p:spPr>
          <a:xfrm>
            <a:off x="6647688" y="3063240"/>
            <a:ext cx="2084832" cy="347472"/>
          </a:xfrm>
          <a:prstGeom prst="rect">
            <a:avLst/>
          </a:prstGeom>
          <a:noFill/>
          <a:ln/>
        </p:spPr>
        <p:txBody>
          <a:bodyPr wrap="square" lIns="0" tIns="0" rIns="0" bIns="0" rtlCol="0" anchor="t">
            <a:normAutofit/>
          </a:bodyPr>
          <a:lstStyle/>
          <a:p>
            <a:pPr algn="l" indent="0" marL="0">
              <a:buNone/>
            </a:pPr>
            <a:r>
              <a:rPr lang="en-US" sz="1600" b="1" dirty="0">
                <a:solidFill>
                  <a:srgbClr val="12213A"/>
                </a:solidFill>
                <a:latin typeface="Aptos" pitchFamily="34" charset="0"/>
                <a:ea typeface="Aptos" pitchFamily="34" charset="-122"/>
                <a:cs typeface="Aptos" pitchFamily="34" charset="-120"/>
              </a:rPr>
              <a:t>Extract features</a:t>
            </a:r>
            <a:endParaRPr lang="en-US" sz="1600" dirty="0"/>
          </a:p>
        </p:txBody>
      </p:sp>
      <p:sp>
        <p:nvSpPr>
          <p:cNvPr id="23" name="Text 21"/>
          <p:cNvSpPr/>
          <p:nvPr/>
        </p:nvSpPr>
        <p:spPr>
          <a:xfrm>
            <a:off x="6647688" y="3703320"/>
            <a:ext cx="2084832" cy="1005840"/>
          </a:xfrm>
          <a:prstGeom prst="rect">
            <a:avLst/>
          </a:prstGeom>
          <a:noFill/>
          <a:ln/>
        </p:spPr>
        <p:txBody>
          <a:bodyPr wrap="square" lIns="0" tIns="0" rIns="0" bIns="0" rtlCol="0" anchor="t">
            <a:normAutofit/>
          </a:bodyPr>
          <a:lstStyle/>
          <a:p>
            <a:pPr algn="l" indent="0" marL="0">
              <a:buNone/>
            </a:pPr>
            <a:r>
              <a:rPr lang="en-US" sz="1320" dirty="0">
                <a:solidFill>
                  <a:srgbClr val="162033"/>
                </a:solidFill>
                <a:latin typeface="Aptos" pitchFamily="34" charset="0"/>
                <a:ea typeface="Aptos" pitchFamily="34" charset="-122"/>
                <a:cs typeface="Aptos" pitchFamily="34" charset="-120"/>
              </a:rPr>
              <a:t>Measure branch count, branch points, tapering, tortuosity and abrupt endings.</a:t>
            </a:r>
            <a:endParaRPr lang="en-US" sz="1320" dirty="0"/>
          </a:p>
        </p:txBody>
      </p:sp>
      <p:sp>
        <p:nvSpPr>
          <p:cNvPr id="24" name="Shape 22"/>
          <p:cNvSpPr/>
          <p:nvPr/>
        </p:nvSpPr>
        <p:spPr>
          <a:xfrm>
            <a:off x="9381744" y="2423160"/>
            <a:ext cx="2423160" cy="2651760"/>
          </a:xfrm>
          <a:prstGeom prst="roundRect">
            <a:avLst>
              <a:gd name="adj" fmla="val 3019"/>
            </a:avLst>
          </a:prstGeom>
          <a:solidFill>
            <a:srgbClr val="FFFFFF"/>
          </a:solidFill>
          <a:ln w="12700">
            <a:solidFill>
              <a:srgbClr val="DDE9F1"/>
            </a:solidFill>
            <a:prstDash val="solid"/>
          </a:ln>
        </p:spPr>
      </p:sp>
      <p:sp>
        <p:nvSpPr>
          <p:cNvPr id="25" name="Shape 23"/>
          <p:cNvSpPr/>
          <p:nvPr/>
        </p:nvSpPr>
        <p:spPr>
          <a:xfrm>
            <a:off x="9381744" y="2423160"/>
            <a:ext cx="2423160" cy="109728"/>
          </a:xfrm>
          <a:prstGeom prst="rect">
            <a:avLst/>
          </a:prstGeom>
          <a:solidFill>
            <a:srgbClr val="842A49"/>
          </a:solidFill>
          <a:ln w="12700">
            <a:solidFill>
              <a:srgbClr val="333333">
                <a:alpha val="0"/>
              </a:srgbClr>
            </a:solidFill>
            <a:prstDash val="solid"/>
          </a:ln>
        </p:spPr>
      </p:sp>
      <p:sp>
        <p:nvSpPr>
          <p:cNvPr id="26" name="Text 24"/>
          <p:cNvSpPr/>
          <p:nvPr/>
        </p:nvSpPr>
        <p:spPr>
          <a:xfrm>
            <a:off x="9528048" y="2697480"/>
            <a:ext cx="457200" cy="256032"/>
          </a:xfrm>
          <a:prstGeom prst="rect">
            <a:avLst/>
          </a:prstGeom>
          <a:noFill/>
          <a:ln/>
        </p:spPr>
        <p:txBody>
          <a:bodyPr wrap="square" lIns="0" tIns="0" rIns="0" bIns="0" rtlCol="0" anchor="t">
            <a:normAutofit/>
          </a:bodyPr>
          <a:lstStyle/>
          <a:p>
            <a:pPr algn="l" indent="0" marL="0">
              <a:buNone/>
            </a:pPr>
            <a:r>
              <a:rPr lang="en-US" sz="1200" b="1" dirty="0">
                <a:solidFill>
                  <a:srgbClr val="842A49"/>
                </a:solidFill>
                <a:latin typeface="Aptos" pitchFamily="34" charset="0"/>
                <a:ea typeface="Aptos" pitchFamily="34" charset="-122"/>
                <a:cs typeface="Aptos" pitchFamily="34" charset="-120"/>
              </a:rPr>
              <a:t>04</a:t>
            </a:r>
            <a:endParaRPr lang="en-US" sz="1200" dirty="0"/>
          </a:p>
        </p:txBody>
      </p:sp>
      <p:sp>
        <p:nvSpPr>
          <p:cNvPr id="27" name="Text 25"/>
          <p:cNvSpPr/>
          <p:nvPr/>
        </p:nvSpPr>
        <p:spPr>
          <a:xfrm>
            <a:off x="9546336" y="3063240"/>
            <a:ext cx="2084832" cy="347472"/>
          </a:xfrm>
          <a:prstGeom prst="rect">
            <a:avLst/>
          </a:prstGeom>
          <a:noFill/>
          <a:ln/>
        </p:spPr>
        <p:txBody>
          <a:bodyPr wrap="square" lIns="0" tIns="0" rIns="0" bIns="0" rtlCol="0" anchor="t">
            <a:normAutofit/>
          </a:bodyPr>
          <a:lstStyle/>
          <a:p>
            <a:pPr algn="l" indent="0" marL="0">
              <a:buNone/>
            </a:pPr>
            <a:r>
              <a:rPr lang="en-US" sz="1600" b="1" dirty="0">
                <a:solidFill>
                  <a:srgbClr val="12213A"/>
                </a:solidFill>
                <a:latin typeface="Aptos" pitchFamily="34" charset="0"/>
                <a:ea typeface="Aptos" pitchFamily="34" charset="-122"/>
                <a:cs typeface="Aptos" pitchFamily="34" charset="-120"/>
              </a:rPr>
              <a:t>Support review</a:t>
            </a:r>
            <a:endParaRPr lang="en-US" sz="1600" dirty="0"/>
          </a:p>
        </p:txBody>
      </p:sp>
      <p:sp>
        <p:nvSpPr>
          <p:cNvPr id="28" name="Text 26"/>
          <p:cNvSpPr/>
          <p:nvPr/>
        </p:nvSpPr>
        <p:spPr>
          <a:xfrm>
            <a:off x="9546336" y="3703320"/>
            <a:ext cx="2084832" cy="1005840"/>
          </a:xfrm>
          <a:prstGeom prst="rect">
            <a:avLst/>
          </a:prstGeom>
          <a:noFill/>
          <a:ln/>
        </p:spPr>
        <p:txBody>
          <a:bodyPr wrap="square" lIns="0" tIns="0" rIns="0" bIns="0" rtlCol="0" anchor="t">
            <a:normAutofit/>
          </a:bodyPr>
          <a:lstStyle/>
          <a:p>
            <a:pPr algn="l" indent="0" marL="0">
              <a:buNone/>
            </a:pPr>
            <a:r>
              <a:rPr lang="en-US" sz="1320" dirty="0">
                <a:solidFill>
                  <a:srgbClr val="162033"/>
                </a:solidFill>
                <a:latin typeface="Aptos" pitchFamily="34" charset="0"/>
                <a:ea typeface="Aptos" pitchFamily="34" charset="-122"/>
                <a:cs typeface="Aptos" pitchFamily="34" charset="-120"/>
              </a:rPr>
              <a:t>Show similarity results, suspicious regions and graph-based paths to areas needing attention.</a:t>
            </a:r>
            <a:endParaRPr lang="en-US" sz="1320" dirty="0"/>
          </a:p>
        </p:txBody>
      </p:sp>
      <p:sp>
        <p:nvSpPr>
          <p:cNvPr id="29" name="Text 27"/>
          <p:cNvSpPr/>
          <p:nvPr/>
        </p:nvSpPr>
        <p:spPr>
          <a:xfrm>
            <a:off x="1005840" y="5742432"/>
            <a:ext cx="9692640" cy="310896"/>
          </a:xfrm>
          <a:prstGeom prst="rect">
            <a:avLst/>
          </a:prstGeom>
          <a:noFill/>
          <a:ln/>
        </p:spPr>
        <p:txBody>
          <a:bodyPr wrap="square" lIns="0" tIns="0" rIns="0" bIns="0" rtlCol="0" anchor="t">
            <a:normAutofit/>
          </a:bodyPr>
          <a:lstStyle/>
          <a:p>
            <a:pPr algn="ctr" indent="0" marL="0">
              <a:buNone/>
            </a:pPr>
            <a:r>
              <a:rPr lang="en-US" sz="1650" b="1" dirty="0">
                <a:solidFill>
                  <a:srgbClr val="842A49"/>
                </a:solidFill>
                <a:latin typeface="Aptos" pitchFamily="34" charset="0"/>
                <a:ea typeface="Aptos" pitchFamily="34" charset="-122"/>
                <a:cs typeface="Aptos" pitchFamily="34" charset="-120"/>
              </a:rPr>
              <a:t>Goal: improve understanding of airway structure without claiming diagnosis.</a:t>
            </a:r>
            <a:endParaRPr lang="en-US" sz="1650" dirty="0"/>
          </a:p>
        </p:txBody>
      </p:sp>
      <p:sp>
        <p:nvSpPr>
          <p:cNvPr id="30" name="Text 28"/>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System Overview</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From CT case folder to graph-based review</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05</a:t>
            </a:r>
            <a:endParaRPr lang="en-US" sz="850" dirty="0"/>
          </a:p>
        </p:txBody>
      </p:sp>
      <p:sp>
        <p:nvSpPr>
          <p:cNvPr id="8" name="Text 6"/>
          <p:cNvSpPr/>
          <p:nvPr/>
        </p:nvSpPr>
        <p:spPr>
          <a:xfrm>
            <a:off x="640080" y="1261872"/>
            <a:ext cx="10881360" cy="502920"/>
          </a:xfrm>
          <a:prstGeom prst="rect">
            <a:avLst/>
          </a:prstGeom>
          <a:noFill/>
          <a:ln/>
        </p:spPr>
        <p:txBody>
          <a:bodyPr wrap="square" lIns="0" tIns="0" rIns="0" bIns="0" rtlCol="0" anchor="t">
            <a:normAutofit/>
          </a:bodyPr>
          <a:lstStyle/>
          <a:p>
            <a:pPr algn="l" indent="0" marL="0">
              <a:buNone/>
            </a:pPr>
            <a:r>
              <a:rPr lang="en-US" sz="1750" b="1" dirty="0">
                <a:solidFill>
                  <a:srgbClr val="162033"/>
                </a:solidFill>
                <a:latin typeface="Aptos" pitchFamily="34" charset="0"/>
                <a:ea typeface="Aptos" pitchFamily="34" charset="-122"/>
                <a:cs typeface="Aptos" pitchFamily="34" charset="-120"/>
              </a:rPr>
              <a:t>The system aims to process CT airway data, build a graph, extract features, categorize results, compare cases and display everything in a clear Java desktop interface.</a:t>
            </a:r>
            <a:endParaRPr lang="en-US" sz="1750" dirty="0"/>
          </a:p>
        </p:txBody>
      </p:sp>
      <p:sp>
        <p:nvSpPr>
          <p:cNvPr id="9" name="Shape 7"/>
          <p:cNvSpPr/>
          <p:nvPr/>
        </p:nvSpPr>
        <p:spPr>
          <a:xfrm>
            <a:off x="713232" y="2148840"/>
            <a:ext cx="2057400" cy="530352"/>
          </a:xfrm>
          <a:prstGeom prst="roundRect">
            <a:avLst>
              <a:gd name="adj" fmla="val 13793"/>
            </a:avLst>
          </a:prstGeom>
          <a:solidFill>
            <a:srgbClr val="FFFFFF"/>
          </a:solidFill>
          <a:ln w="12700">
            <a:solidFill>
              <a:srgbClr val="DDE9F1"/>
            </a:solidFill>
            <a:prstDash val="solid"/>
          </a:ln>
        </p:spPr>
      </p:sp>
      <p:sp>
        <p:nvSpPr>
          <p:cNvPr id="10" name="Shape 8"/>
          <p:cNvSpPr/>
          <p:nvPr/>
        </p:nvSpPr>
        <p:spPr>
          <a:xfrm>
            <a:off x="713232" y="2148840"/>
            <a:ext cx="54864" cy="530352"/>
          </a:xfrm>
          <a:prstGeom prst="rect">
            <a:avLst/>
          </a:prstGeom>
          <a:solidFill>
            <a:srgbClr val="842A49"/>
          </a:solidFill>
          <a:ln w="12700">
            <a:solidFill>
              <a:srgbClr val="333333">
                <a:alpha val="0"/>
              </a:srgbClr>
            </a:solidFill>
            <a:prstDash val="solid"/>
          </a:ln>
        </p:spPr>
      </p:sp>
      <p:sp>
        <p:nvSpPr>
          <p:cNvPr id="11" name="Text 9"/>
          <p:cNvSpPr/>
          <p:nvPr/>
        </p:nvSpPr>
        <p:spPr>
          <a:xfrm>
            <a:off x="877824" y="2313432"/>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CT case folder</a:t>
            </a:r>
            <a:endParaRPr lang="en-US" sz="950" dirty="0"/>
          </a:p>
        </p:txBody>
      </p:sp>
      <p:sp>
        <p:nvSpPr>
          <p:cNvPr id="12" name="Shape 10"/>
          <p:cNvSpPr/>
          <p:nvPr/>
        </p:nvSpPr>
        <p:spPr>
          <a:xfrm>
            <a:off x="2798064" y="2414016"/>
            <a:ext cx="219456" cy="0"/>
          </a:xfrm>
          <a:prstGeom prst="line">
            <a:avLst/>
          </a:prstGeom>
          <a:noFill/>
          <a:ln w="17780">
            <a:solidFill>
              <a:srgbClr val="8FA5B5"/>
            </a:solidFill>
            <a:prstDash val="solid"/>
            <a:headEnd type="none"/>
            <a:tailEnd type="triangle"/>
          </a:ln>
        </p:spPr>
      </p:sp>
      <p:sp>
        <p:nvSpPr>
          <p:cNvPr id="13" name="Shape 11"/>
          <p:cNvSpPr/>
          <p:nvPr/>
        </p:nvSpPr>
        <p:spPr>
          <a:xfrm>
            <a:off x="3090672" y="2148840"/>
            <a:ext cx="2057400" cy="530352"/>
          </a:xfrm>
          <a:prstGeom prst="roundRect">
            <a:avLst>
              <a:gd name="adj" fmla="val 13793"/>
            </a:avLst>
          </a:prstGeom>
          <a:solidFill>
            <a:srgbClr val="FFFFFF"/>
          </a:solidFill>
          <a:ln w="12700">
            <a:solidFill>
              <a:srgbClr val="DDE9F1"/>
            </a:solidFill>
            <a:prstDash val="solid"/>
          </a:ln>
        </p:spPr>
      </p:sp>
      <p:sp>
        <p:nvSpPr>
          <p:cNvPr id="14" name="Shape 12"/>
          <p:cNvSpPr/>
          <p:nvPr/>
        </p:nvSpPr>
        <p:spPr>
          <a:xfrm>
            <a:off x="3090672" y="2148840"/>
            <a:ext cx="54864" cy="530352"/>
          </a:xfrm>
          <a:prstGeom prst="rect">
            <a:avLst/>
          </a:prstGeom>
          <a:solidFill>
            <a:srgbClr val="10B8A6"/>
          </a:solidFill>
          <a:ln w="12700">
            <a:solidFill>
              <a:srgbClr val="333333">
                <a:alpha val="0"/>
              </a:srgbClr>
            </a:solidFill>
            <a:prstDash val="solid"/>
          </a:ln>
        </p:spPr>
      </p:sp>
      <p:sp>
        <p:nvSpPr>
          <p:cNvPr id="15" name="Text 13"/>
          <p:cNvSpPr/>
          <p:nvPr/>
        </p:nvSpPr>
        <p:spPr>
          <a:xfrm>
            <a:off x="3255264" y="2313432"/>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PNG slices</a:t>
            </a:r>
            <a:endParaRPr lang="en-US" sz="950" dirty="0"/>
          </a:p>
        </p:txBody>
      </p:sp>
      <p:sp>
        <p:nvSpPr>
          <p:cNvPr id="16" name="Shape 14"/>
          <p:cNvSpPr/>
          <p:nvPr/>
        </p:nvSpPr>
        <p:spPr>
          <a:xfrm>
            <a:off x="5175504" y="2414016"/>
            <a:ext cx="219456" cy="0"/>
          </a:xfrm>
          <a:prstGeom prst="line">
            <a:avLst/>
          </a:prstGeom>
          <a:noFill/>
          <a:ln w="17780">
            <a:solidFill>
              <a:srgbClr val="8FA5B5"/>
            </a:solidFill>
            <a:prstDash val="solid"/>
            <a:headEnd type="none"/>
            <a:tailEnd type="triangle"/>
          </a:ln>
        </p:spPr>
      </p:sp>
      <p:sp>
        <p:nvSpPr>
          <p:cNvPr id="17" name="Shape 15"/>
          <p:cNvSpPr/>
          <p:nvPr/>
        </p:nvSpPr>
        <p:spPr>
          <a:xfrm>
            <a:off x="5468112" y="2148840"/>
            <a:ext cx="2057400" cy="530352"/>
          </a:xfrm>
          <a:prstGeom prst="roundRect">
            <a:avLst>
              <a:gd name="adj" fmla="val 13793"/>
            </a:avLst>
          </a:prstGeom>
          <a:solidFill>
            <a:srgbClr val="FFFFFF"/>
          </a:solidFill>
          <a:ln w="12700">
            <a:solidFill>
              <a:srgbClr val="DDE9F1"/>
            </a:solidFill>
            <a:prstDash val="solid"/>
          </a:ln>
        </p:spPr>
      </p:sp>
      <p:sp>
        <p:nvSpPr>
          <p:cNvPr id="18" name="Shape 16"/>
          <p:cNvSpPr/>
          <p:nvPr/>
        </p:nvSpPr>
        <p:spPr>
          <a:xfrm>
            <a:off x="5468112" y="2148840"/>
            <a:ext cx="54864" cy="530352"/>
          </a:xfrm>
          <a:prstGeom prst="rect">
            <a:avLst/>
          </a:prstGeom>
          <a:solidFill>
            <a:srgbClr val="12213A"/>
          </a:solidFill>
          <a:ln w="12700">
            <a:solidFill>
              <a:srgbClr val="333333">
                <a:alpha val="0"/>
              </a:srgbClr>
            </a:solidFill>
            <a:prstDash val="solid"/>
          </a:ln>
        </p:spPr>
      </p:sp>
      <p:sp>
        <p:nvSpPr>
          <p:cNvPr id="19" name="Text 17"/>
          <p:cNvSpPr/>
          <p:nvPr/>
        </p:nvSpPr>
        <p:spPr>
          <a:xfrm>
            <a:off x="5632704" y="2313432"/>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Compressed airway image</a:t>
            </a:r>
            <a:endParaRPr lang="en-US" sz="950" dirty="0"/>
          </a:p>
        </p:txBody>
      </p:sp>
      <p:sp>
        <p:nvSpPr>
          <p:cNvPr id="20" name="Shape 18"/>
          <p:cNvSpPr/>
          <p:nvPr/>
        </p:nvSpPr>
        <p:spPr>
          <a:xfrm>
            <a:off x="7552944" y="2414016"/>
            <a:ext cx="219456" cy="0"/>
          </a:xfrm>
          <a:prstGeom prst="line">
            <a:avLst/>
          </a:prstGeom>
          <a:noFill/>
          <a:ln w="17780">
            <a:solidFill>
              <a:srgbClr val="8FA5B5"/>
            </a:solidFill>
            <a:prstDash val="solid"/>
            <a:headEnd type="none"/>
            <a:tailEnd type="triangle"/>
          </a:ln>
        </p:spPr>
      </p:sp>
      <p:sp>
        <p:nvSpPr>
          <p:cNvPr id="21" name="Shape 19"/>
          <p:cNvSpPr/>
          <p:nvPr/>
        </p:nvSpPr>
        <p:spPr>
          <a:xfrm>
            <a:off x="7845552" y="2148840"/>
            <a:ext cx="2057400" cy="530352"/>
          </a:xfrm>
          <a:prstGeom prst="roundRect">
            <a:avLst>
              <a:gd name="adj" fmla="val 13793"/>
            </a:avLst>
          </a:prstGeom>
          <a:solidFill>
            <a:srgbClr val="FFFFFF"/>
          </a:solidFill>
          <a:ln w="12700">
            <a:solidFill>
              <a:srgbClr val="DDE9F1"/>
            </a:solidFill>
            <a:prstDash val="solid"/>
          </a:ln>
        </p:spPr>
      </p:sp>
      <p:sp>
        <p:nvSpPr>
          <p:cNvPr id="22" name="Shape 20"/>
          <p:cNvSpPr/>
          <p:nvPr/>
        </p:nvSpPr>
        <p:spPr>
          <a:xfrm>
            <a:off x="7845552" y="2148840"/>
            <a:ext cx="54864" cy="530352"/>
          </a:xfrm>
          <a:prstGeom prst="rect">
            <a:avLst/>
          </a:prstGeom>
          <a:solidFill>
            <a:srgbClr val="10B8A6"/>
          </a:solidFill>
          <a:ln w="12700">
            <a:solidFill>
              <a:srgbClr val="333333">
                <a:alpha val="0"/>
              </a:srgbClr>
            </a:solidFill>
            <a:prstDash val="solid"/>
          </a:ln>
        </p:spPr>
      </p:sp>
      <p:sp>
        <p:nvSpPr>
          <p:cNvPr id="23" name="Text 21"/>
          <p:cNvSpPr/>
          <p:nvPr/>
        </p:nvSpPr>
        <p:spPr>
          <a:xfrm>
            <a:off x="8010144" y="2313432"/>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Preprocessing</a:t>
            </a:r>
            <a:endParaRPr lang="en-US" sz="950" dirty="0"/>
          </a:p>
        </p:txBody>
      </p:sp>
      <p:sp>
        <p:nvSpPr>
          <p:cNvPr id="24" name="Shape 22"/>
          <p:cNvSpPr/>
          <p:nvPr/>
        </p:nvSpPr>
        <p:spPr>
          <a:xfrm>
            <a:off x="713232" y="3319272"/>
            <a:ext cx="2057400" cy="530352"/>
          </a:xfrm>
          <a:prstGeom prst="roundRect">
            <a:avLst>
              <a:gd name="adj" fmla="val 13793"/>
            </a:avLst>
          </a:prstGeom>
          <a:solidFill>
            <a:srgbClr val="FFFFFF"/>
          </a:solidFill>
          <a:ln w="12700">
            <a:solidFill>
              <a:srgbClr val="DDE9F1"/>
            </a:solidFill>
            <a:prstDash val="solid"/>
          </a:ln>
        </p:spPr>
      </p:sp>
      <p:sp>
        <p:nvSpPr>
          <p:cNvPr id="25" name="Shape 23"/>
          <p:cNvSpPr/>
          <p:nvPr/>
        </p:nvSpPr>
        <p:spPr>
          <a:xfrm>
            <a:off x="713232" y="3319272"/>
            <a:ext cx="54864" cy="530352"/>
          </a:xfrm>
          <a:prstGeom prst="rect">
            <a:avLst/>
          </a:prstGeom>
          <a:solidFill>
            <a:srgbClr val="842A49"/>
          </a:solidFill>
          <a:ln w="12700">
            <a:solidFill>
              <a:srgbClr val="333333">
                <a:alpha val="0"/>
              </a:srgbClr>
            </a:solidFill>
            <a:prstDash val="solid"/>
          </a:ln>
        </p:spPr>
      </p:sp>
      <p:sp>
        <p:nvSpPr>
          <p:cNvPr id="26" name="Text 24"/>
          <p:cNvSpPr/>
          <p:nvPr/>
        </p:nvSpPr>
        <p:spPr>
          <a:xfrm>
            <a:off x="877824" y="3483864"/>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Skeletonized airway</a:t>
            </a:r>
            <a:endParaRPr lang="en-US" sz="950" dirty="0"/>
          </a:p>
        </p:txBody>
      </p:sp>
      <p:sp>
        <p:nvSpPr>
          <p:cNvPr id="27" name="Shape 25"/>
          <p:cNvSpPr/>
          <p:nvPr/>
        </p:nvSpPr>
        <p:spPr>
          <a:xfrm>
            <a:off x="2798064" y="3584448"/>
            <a:ext cx="219456" cy="0"/>
          </a:xfrm>
          <a:prstGeom prst="line">
            <a:avLst/>
          </a:prstGeom>
          <a:noFill/>
          <a:ln w="17780">
            <a:solidFill>
              <a:srgbClr val="8FA5B5"/>
            </a:solidFill>
            <a:prstDash val="solid"/>
            <a:headEnd type="none"/>
            <a:tailEnd type="triangle"/>
          </a:ln>
        </p:spPr>
      </p:sp>
      <p:sp>
        <p:nvSpPr>
          <p:cNvPr id="28" name="Shape 26"/>
          <p:cNvSpPr/>
          <p:nvPr/>
        </p:nvSpPr>
        <p:spPr>
          <a:xfrm>
            <a:off x="3090672" y="3319272"/>
            <a:ext cx="2057400" cy="530352"/>
          </a:xfrm>
          <a:prstGeom prst="roundRect">
            <a:avLst>
              <a:gd name="adj" fmla="val 13793"/>
            </a:avLst>
          </a:prstGeom>
          <a:solidFill>
            <a:srgbClr val="FFFFFF"/>
          </a:solidFill>
          <a:ln w="12700">
            <a:solidFill>
              <a:srgbClr val="DDE9F1"/>
            </a:solidFill>
            <a:prstDash val="solid"/>
          </a:ln>
        </p:spPr>
      </p:sp>
      <p:sp>
        <p:nvSpPr>
          <p:cNvPr id="29" name="Shape 27"/>
          <p:cNvSpPr/>
          <p:nvPr/>
        </p:nvSpPr>
        <p:spPr>
          <a:xfrm>
            <a:off x="3090672" y="3319272"/>
            <a:ext cx="54864" cy="530352"/>
          </a:xfrm>
          <a:prstGeom prst="rect">
            <a:avLst/>
          </a:prstGeom>
          <a:solidFill>
            <a:srgbClr val="12213A"/>
          </a:solidFill>
          <a:ln w="12700">
            <a:solidFill>
              <a:srgbClr val="333333">
                <a:alpha val="0"/>
              </a:srgbClr>
            </a:solidFill>
            <a:prstDash val="solid"/>
          </a:ln>
        </p:spPr>
      </p:sp>
      <p:sp>
        <p:nvSpPr>
          <p:cNvPr id="30" name="Text 28"/>
          <p:cNvSpPr/>
          <p:nvPr/>
        </p:nvSpPr>
        <p:spPr>
          <a:xfrm>
            <a:off x="3255264" y="3483864"/>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Graph nodes + edges</a:t>
            </a:r>
            <a:endParaRPr lang="en-US" sz="950" dirty="0"/>
          </a:p>
        </p:txBody>
      </p:sp>
      <p:sp>
        <p:nvSpPr>
          <p:cNvPr id="31" name="Shape 29"/>
          <p:cNvSpPr/>
          <p:nvPr/>
        </p:nvSpPr>
        <p:spPr>
          <a:xfrm>
            <a:off x="5175504" y="3584448"/>
            <a:ext cx="219456" cy="0"/>
          </a:xfrm>
          <a:prstGeom prst="line">
            <a:avLst/>
          </a:prstGeom>
          <a:noFill/>
          <a:ln w="17780">
            <a:solidFill>
              <a:srgbClr val="8FA5B5"/>
            </a:solidFill>
            <a:prstDash val="solid"/>
            <a:headEnd type="none"/>
            <a:tailEnd type="triangle"/>
          </a:ln>
        </p:spPr>
      </p:sp>
      <p:sp>
        <p:nvSpPr>
          <p:cNvPr id="32" name="Shape 30"/>
          <p:cNvSpPr/>
          <p:nvPr/>
        </p:nvSpPr>
        <p:spPr>
          <a:xfrm>
            <a:off x="5468112" y="3319272"/>
            <a:ext cx="2057400" cy="530352"/>
          </a:xfrm>
          <a:prstGeom prst="roundRect">
            <a:avLst>
              <a:gd name="adj" fmla="val 13793"/>
            </a:avLst>
          </a:prstGeom>
          <a:solidFill>
            <a:srgbClr val="FFFFFF"/>
          </a:solidFill>
          <a:ln w="12700">
            <a:solidFill>
              <a:srgbClr val="DDE9F1"/>
            </a:solidFill>
            <a:prstDash val="solid"/>
          </a:ln>
        </p:spPr>
      </p:sp>
      <p:sp>
        <p:nvSpPr>
          <p:cNvPr id="33" name="Shape 31"/>
          <p:cNvSpPr/>
          <p:nvPr/>
        </p:nvSpPr>
        <p:spPr>
          <a:xfrm>
            <a:off x="5468112" y="3319272"/>
            <a:ext cx="54864" cy="530352"/>
          </a:xfrm>
          <a:prstGeom prst="rect">
            <a:avLst/>
          </a:prstGeom>
          <a:solidFill>
            <a:srgbClr val="10B8A6"/>
          </a:solidFill>
          <a:ln w="12700">
            <a:solidFill>
              <a:srgbClr val="333333">
                <a:alpha val="0"/>
              </a:srgbClr>
            </a:solidFill>
            <a:prstDash val="solid"/>
          </a:ln>
        </p:spPr>
      </p:sp>
      <p:sp>
        <p:nvSpPr>
          <p:cNvPr id="34" name="Text 32"/>
          <p:cNvSpPr/>
          <p:nvPr/>
        </p:nvSpPr>
        <p:spPr>
          <a:xfrm>
            <a:off x="5632704" y="3483864"/>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Feature categories</a:t>
            </a:r>
            <a:endParaRPr lang="en-US" sz="950" dirty="0"/>
          </a:p>
        </p:txBody>
      </p:sp>
      <p:sp>
        <p:nvSpPr>
          <p:cNvPr id="35" name="Shape 33"/>
          <p:cNvSpPr/>
          <p:nvPr/>
        </p:nvSpPr>
        <p:spPr>
          <a:xfrm>
            <a:off x="7552944" y="3584448"/>
            <a:ext cx="219456" cy="0"/>
          </a:xfrm>
          <a:prstGeom prst="line">
            <a:avLst/>
          </a:prstGeom>
          <a:noFill/>
          <a:ln w="17780">
            <a:solidFill>
              <a:srgbClr val="8FA5B5"/>
            </a:solidFill>
            <a:prstDash val="solid"/>
            <a:headEnd type="none"/>
            <a:tailEnd type="triangle"/>
          </a:ln>
        </p:spPr>
      </p:sp>
      <p:sp>
        <p:nvSpPr>
          <p:cNvPr id="36" name="Shape 34"/>
          <p:cNvSpPr/>
          <p:nvPr/>
        </p:nvSpPr>
        <p:spPr>
          <a:xfrm>
            <a:off x="7845552" y="3319272"/>
            <a:ext cx="2057400" cy="530352"/>
          </a:xfrm>
          <a:prstGeom prst="roundRect">
            <a:avLst>
              <a:gd name="adj" fmla="val 13793"/>
            </a:avLst>
          </a:prstGeom>
          <a:solidFill>
            <a:srgbClr val="FFFFFF"/>
          </a:solidFill>
          <a:ln w="12700">
            <a:solidFill>
              <a:srgbClr val="DDE9F1"/>
            </a:solidFill>
            <a:prstDash val="solid"/>
          </a:ln>
        </p:spPr>
      </p:sp>
      <p:sp>
        <p:nvSpPr>
          <p:cNvPr id="37" name="Shape 35"/>
          <p:cNvSpPr/>
          <p:nvPr/>
        </p:nvSpPr>
        <p:spPr>
          <a:xfrm>
            <a:off x="7845552" y="3319272"/>
            <a:ext cx="54864" cy="530352"/>
          </a:xfrm>
          <a:prstGeom prst="rect">
            <a:avLst/>
          </a:prstGeom>
          <a:solidFill>
            <a:srgbClr val="842A49"/>
          </a:solidFill>
          <a:ln w="12700">
            <a:solidFill>
              <a:srgbClr val="333333">
                <a:alpha val="0"/>
              </a:srgbClr>
            </a:solidFill>
            <a:prstDash val="solid"/>
          </a:ln>
        </p:spPr>
      </p:sp>
      <p:sp>
        <p:nvSpPr>
          <p:cNvPr id="38" name="Text 36"/>
          <p:cNvSpPr/>
          <p:nvPr/>
        </p:nvSpPr>
        <p:spPr>
          <a:xfrm>
            <a:off x="8010144" y="3483864"/>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KNN similarity</a:t>
            </a:r>
            <a:endParaRPr lang="en-US" sz="950" dirty="0"/>
          </a:p>
        </p:txBody>
      </p:sp>
      <p:sp>
        <p:nvSpPr>
          <p:cNvPr id="39" name="Shape 37"/>
          <p:cNvSpPr/>
          <p:nvPr/>
        </p:nvSpPr>
        <p:spPr>
          <a:xfrm>
            <a:off x="713232" y="4489704"/>
            <a:ext cx="2057400" cy="530352"/>
          </a:xfrm>
          <a:prstGeom prst="roundRect">
            <a:avLst>
              <a:gd name="adj" fmla="val 13793"/>
            </a:avLst>
          </a:prstGeom>
          <a:solidFill>
            <a:srgbClr val="FFFFFF"/>
          </a:solidFill>
          <a:ln w="12700">
            <a:solidFill>
              <a:srgbClr val="DDE9F1"/>
            </a:solidFill>
            <a:prstDash val="solid"/>
          </a:ln>
        </p:spPr>
      </p:sp>
      <p:sp>
        <p:nvSpPr>
          <p:cNvPr id="40" name="Shape 38"/>
          <p:cNvSpPr/>
          <p:nvPr/>
        </p:nvSpPr>
        <p:spPr>
          <a:xfrm>
            <a:off x="713232" y="4489704"/>
            <a:ext cx="54864" cy="530352"/>
          </a:xfrm>
          <a:prstGeom prst="rect">
            <a:avLst/>
          </a:prstGeom>
          <a:solidFill>
            <a:srgbClr val="12213A"/>
          </a:solidFill>
          <a:ln w="12700">
            <a:solidFill>
              <a:srgbClr val="333333">
                <a:alpha val="0"/>
              </a:srgbClr>
            </a:solidFill>
            <a:prstDash val="solid"/>
          </a:ln>
        </p:spPr>
      </p:sp>
      <p:sp>
        <p:nvSpPr>
          <p:cNvPr id="41" name="Text 39"/>
          <p:cNvSpPr/>
          <p:nvPr/>
        </p:nvSpPr>
        <p:spPr>
          <a:xfrm>
            <a:off x="877824" y="4654296"/>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Suspicious nodes</a:t>
            </a:r>
            <a:endParaRPr lang="en-US" sz="950" dirty="0"/>
          </a:p>
        </p:txBody>
      </p:sp>
      <p:sp>
        <p:nvSpPr>
          <p:cNvPr id="42" name="Shape 40"/>
          <p:cNvSpPr/>
          <p:nvPr/>
        </p:nvSpPr>
        <p:spPr>
          <a:xfrm>
            <a:off x="2798064" y="4754880"/>
            <a:ext cx="219456" cy="0"/>
          </a:xfrm>
          <a:prstGeom prst="line">
            <a:avLst/>
          </a:prstGeom>
          <a:noFill/>
          <a:ln w="17780">
            <a:solidFill>
              <a:srgbClr val="8FA5B5"/>
            </a:solidFill>
            <a:prstDash val="solid"/>
            <a:headEnd type="none"/>
            <a:tailEnd type="triangle"/>
          </a:ln>
        </p:spPr>
      </p:sp>
      <p:sp>
        <p:nvSpPr>
          <p:cNvPr id="43" name="Shape 41"/>
          <p:cNvSpPr/>
          <p:nvPr/>
        </p:nvSpPr>
        <p:spPr>
          <a:xfrm>
            <a:off x="3090672" y="4489704"/>
            <a:ext cx="2057400" cy="530352"/>
          </a:xfrm>
          <a:prstGeom prst="roundRect">
            <a:avLst>
              <a:gd name="adj" fmla="val 13793"/>
            </a:avLst>
          </a:prstGeom>
          <a:solidFill>
            <a:srgbClr val="FFFFFF"/>
          </a:solidFill>
          <a:ln w="12700">
            <a:solidFill>
              <a:srgbClr val="DDE9F1"/>
            </a:solidFill>
            <a:prstDash val="solid"/>
          </a:ln>
        </p:spPr>
      </p:sp>
      <p:sp>
        <p:nvSpPr>
          <p:cNvPr id="44" name="Shape 42"/>
          <p:cNvSpPr/>
          <p:nvPr/>
        </p:nvSpPr>
        <p:spPr>
          <a:xfrm>
            <a:off x="3090672" y="4489704"/>
            <a:ext cx="54864" cy="530352"/>
          </a:xfrm>
          <a:prstGeom prst="rect">
            <a:avLst/>
          </a:prstGeom>
          <a:solidFill>
            <a:srgbClr val="10B8A6"/>
          </a:solidFill>
          <a:ln w="12700">
            <a:solidFill>
              <a:srgbClr val="333333">
                <a:alpha val="0"/>
              </a:srgbClr>
            </a:solidFill>
            <a:prstDash val="solid"/>
          </a:ln>
        </p:spPr>
      </p:sp>
      <p:sp>
        <p:nvSpPr>
          <p:cNvPr id="45" name="Text 43"/>
          <p:cNvSpPr/>
          <p:nvPr/>
        </p:nvSpPr>
        <p:spPr>
          <a:xfrm>
            <a:off x="3255264" y="4654296"/>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Pathfinding route</a:t>
            </a:r>
            <a:endParaRPr lang="en-US" sz="950" dirty="0"/>
          </a:p>
        </p:txBody>
      </p:sp>
      <p:sp>
        <p:nvSpPr>
          <p:cNvPr id="46" name="Shape 44"/>
          <p:cNvSpPr/>
          <p:nvPr/>
        </p:nvSpPr>
        <p:spPr>
          <a:xfrm>
            <a:off x="5175504" y="4754880"/>
            <a:ext cx="219456" cy="0"/>
          </a:xfrm>
          <a:prstGeom prst="line">
            <a:avLst/>
          </a:prstGeom>
          <a:noFill/>
          <a:ln w="17780">
            <a:solidFill>
              <a:srgbClr val="8FA5B5"/>
            </a:solidFill>
            <a:prstDash val="solid"/>
            <a:headEnd type="none"/>
            <a:tailEnd type="triangle"/>
          </a:ln>
        </p:spPr>
      </p:sp>
      <p:sp>
        <p:nvSpPr>
          <p:cNvPr id="47" name="Shape 45"/>
          <p:cNvSpPr/>
          <p:nvPr/>
        </p:nvSpPr>
        <p:spPr>
          <a:xfrm>
            <a:off x="5468112" y="4489704"/>
            <a:ext cx="2057400" cy="530352"/>
          </a:xfrm>
          <a:prstGeom prst="roundRect">
            <a:avLst>
              <a:gd name="adj" fmla="val 13793"/>
            </a:avLst>
          </a:prstGeom>
          <a:solidFill>
            <a:srgbClr val="FFFFFF"/>
          </a:solidFill>
          <a:ln w="12700">
            <a:solidFill>
              <a:srgbClr val="DDE9F1"/>
            </a:solidFill>
            <a:prstDash val="solid"/>
          </a:ln>
        </p:spPr>
      </p:sp>
      <p:sp>
        <p:nvSpPr>
          <p:cNvPr id="48" name="Shape 46"/>
          <p:cNvSpPr/>
          <p:nvPr/>
        </p:nvSpPr>
        <p:spPr>
          <a:xfrm>
            <a:off x="5468112" y="4489704"/>
            <a:ext cx="54864" cy="530352"/>
          </a:xfrm>
          <a:prstGeom prst="rect">
            <a:avLst/>
          </a:prstGeom>
          <a:solidFill>
            <a:srgbClr val="842A49"/>
          </a:solidFill>
          <a:ln w="12700">
            <a:solidFill>
              <a:srgbClr val="333333">
                <a:alpha val="0"/>
              </a:srgbClr>
            </a:solidFill>
            <a:prstDash val="solid"/>
          </a:ln>
        </p:spPr>
      </p:sp>
      <p:sp>
        <p:nvSpPr>
          <p:cNvPr id="49" name="Text 47"/>
          <p:cNvSpPr/>
          <p:nvPr/>
        </p:nvSpPr>
        <p:spPr>
          <a:xfrm>
            <a:off x="5632704" y="4654296"/>
            <a:ext cx="1819656" cy="182880"/>
          </a:xfrm>
          <a:prstGeom prst="rect">
            <a:avLst/>
          </a:prstGeom>
          <a:noFill/>
          <a:ln/>
        </p:spPr>
        <p:txBody>
          <a:bodyPr wrap="square" lIns="0" tIns="0" rIns="0" bIns="0" rtlCol="0" anchor="t">
            <a:normAutofit/>
          </a:bodyPr>
          <a:lstStyle/>
          <a:p>
            <a:pPr algn="ctr" indent="0" marL="0">
              <a:buNone/>
            </a:pPr>
            <a:r>
              <a:rPr lang="en-US" sz="950" b="1" dirty="0">
                <a:solidFill>
                  <a:srgbClr val="12213A"/>
                </a:solidFill>
                <a:latin typeface="Aptos" pitchFamily="34" charset="0"/>
                <a:ea typeface="Aptos" pitchFamily="34" charset="-122"/>
                <a:cs typeface="Aptos" pitchFamily="34" charset="-120"/>
              </a:rPr>
              <a:t>UI results</a:t>
            </a:r>
            <a:endParaRPr lang="en-US" sz="950" dirty="0"/>
          </a:p>
        </p:txBody>
      </p:sp>
      <p:sp>
        <p:nvSpPr>
          <p:cNvPr id="50" name="Shape 48"/>
          <p:cNvSpPr/>
          <p:nvPr/>
        </p:nvSpPr>
        <p:spPr>
          <a:xfrm>
            <a:off x="731520" y="5285232"/>
            <a:ext cx="9372600" cy="804672"/>
          </a:xfrm>
          <a:prstGeom prst="roundRect">
            <a:avLst>
              <a:gd name="adj" fmla="val 9091"/>
            </a:avLst>
          </a:prstGeom>
          <a:solidFill>
            <a:srgbClr val="FFFFFF"/>
          </a:solidFill>
          <a:ln w="12700">
            <a:solidFill>
              <a:srgbClr val="D9E6EF"/>
            </a:solidFill>
            <a:prstDash val="solid"/>
          </a:ln>
        </p:spPr>
      </p:sp>
      <p:pic>
        <p:nvPicPr>
          <p:cNvPr id="51" name="Image 0" descr="/mnt/data/airway_final_assets/ui_top.png">    </p:cNvPr>
          <p:cNvPicPr>
            <a:picLocks noChangeAspect="1"/>
          </p:cNvPicPr>
          <p:nvPr/>
        </p:nvPicPr>
        <p:blipFill>
          <a:blip r:embed="rId1"/>
          <a:srcRect l="0" r="0" t="39467" b="39466"/>
          <a:stretch/>
        </p:blipFill>
        <p:spPr>
          <a:xfrm>
            <a:off x="804672" y="5358384"/>
            <a:ext cx="9226296" cy="658368"/>
          </a:xfrm>
          <a:prstGeom prst="rect">
            <a:avLst/>
          </a:prstGeom>
        </p:spPr>
      </p:pic>
      <p:sp>
        <p:nvSpPr>
          <p:cNvPr id="52" name="Shape 49"/>
          <p:cNvSpPr/>
          <p:nvPr/>
        </p:nvSpPr>
        <p:spPr>
          <a:xfrm>
            <a:off x="7955280" y="6236208"/>
            <a:ext cx="3063240" cy="347472"/>
          </a:xfrm>
          <a:prstGeom prst="roundRect">
            <a:avLst>
              <a:gd name="adj" fmla="val 15789"/>
            </a:avLst>
          </a:prstGeom>
          <a:solidFill>
            <a:srgbClr val="12213A"/>
          </a:solidFill>
          <a:ln w="12700">
            <a:solidFill>
              <a:srgbClr val="333333">
                <a:alpha val="0"/>
              </a:srgbClr>
            </a:solidFill>
            <a:prstDash val="solid"/>
          </a:ln>
        </p:spPr>
      </p:sp>
      <p:sp>
        <p:nvSpPr>
          <p:cNvPr id="53" name="Text 50"/>
          <p:cNvSpPr/>
          <p:nvPr/>
        </p:nvSpPr>
        <p:spPr>
          <a:xfrm>
            <a:off x="8028432" y="6318504"/>
            <a:ext cx="291693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Visual + numerical + graph-based summary</a:t>
            </a:r>
            <a:endParaRPr lang="en-US" sz="820" dirty="0"/>
          </a:p>
        </p:txBody>
      </p:sp>
      <p:sp>
        <p:nvSpPr>
          <p:cNvPr id="54" name="Text 51"/>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Technical Process Flow</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Image preprocessing, feature extraction and algorithms used</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06</a:t>
            </a:r>
            <a:endParaRPr lang="en-US" sz="850" dirty="0"/>
          </a:p>
        </p:txBody>
      </p:sp>
      <p:sp>
        <p:nvSpPr>
          <p:cNvPr id="8" name="Text 6"/>
          <p:cNvSpPr/>
          <p:nvPr/>
        </p:nvSpPr>
        <p:spPr>
          <a:xfrm>
            <a:off x="685800" y="1280160"/>
            <a:ext cx="10881360" cy="640080"/>
          </a:xfrm>
          <a:prstGeom prst="rect">
            <a:avLst/>
          </a:prstGeom>
          <a:noFill/>
          <a:ln/>
        </p:spPr>
        <p:txBody>
          <a:bodyPr wrap="square" lIns="0" tIns="0" rIns="0" bIns="0" rtlCol="0" anchor="t">
            <a:normAutofit/>
          </a:bodyPr>
          <a:lstStyle/>
          <a:p>
            <a:pPr algn="l" indent="0" marL="0">
              <a:buNone/>
            </a:pPr>
            <a:r>
              <a:rPr lang="en-US" sz="1550" b="1" dirty="0">
                <a:solidFill>
                  <a:srgbClr val="12213A"/>
                </a:solidFill>
                <a:latin typeface="Aptos" pitchFamily="34" charset="0"/>
                <a:ea typeface="Aptos" pitchFamily="34" charset="-122"/>
                <a:cs typeface="Aptos" pitchFamily="34" charset="-120"/>
              </a:rPr>
              <a:t>CT Case Folder → ConvertCT → PNG Slices → PngCaseCompressor → Final Image → Grayscale → Sobel → Binary Mask → Zhang-Suen Thinning → Skeleton → Graph → Features → KNN → Suspicious Nodes → Dijkstra/A* → UI Overlay</a:t>
            </a:r>
            <a:endParaRPr lang="en-US" sz="1550" dirty="0"/>
          </a:p>
        </p:txBody>
      </p:sp>
      <p:sp>
        <p:nvSpPr>
          <p:cNvPr id="9" name="Shape 7"/>
          <p:cNvSpPr/>
          <p:nvPr/>
        </p:nvSpPr>
        <p:spPr>
          <a:xfrm>
            <a:off x="685800" y="2148840"/>
            <a:ext cx="5166360" cy="3337560"/>
          </a:xfrm>
          <a:prstGeom prst="roundRect">
            <a:avLst>
              <a:gd name="adj" fmla="val 2192"/>
            </a:avLst>
          </a:prstGeom>
          <a:solidFill>
            <a:srgbClr val="FFFFFF"/>
          </a:solidFill>
          <a:ln w="12700">
            <a:solidFill>
              <a:srgbClr val="D9E6EF"/>
            </a:solidFill>
            <a:prstDash val="solid"/>
          </a:ln>
        </p:spPr>
      </p:sp>
      <p:pic>
        <p:nvPicPr>
          <p:cNvPr id="10" name="Image 0" descr="/mnt/data/588a1456-70b7-4a62-8cce-1ce2350e3224.jpg">    </p:cNvPr>
          <p:cNvPicPr>
            <a:picLocks noChangeAspect="1"/>
          </p:cNvPicPr>
          <p:nvPr/>
        </p:nvPicPr>
        <p:blipFill>
          <a:blip r:embed="rId1"/>
          <a:srcRect l="1700" r="1700" t="0" b="0"/>
          <a:stretch/>
        </p:blipFill>
        <p:spPr>
          <a:xfrm>
            <a:off x="758952" y="2221992"/>
            <a:ext cx="5020056" cy="3191256"/>
          </a:xfrm>
          <a:prstGeom prst="rect">
            <a:avLst/>
          </a:prstGeom>
        </p:spPr>
      </p:pic>
      <p:sp>
        <p:nvSpPr>
          <p:cNvPr id="11" name="Shape 8"/>
          <p:cNvSpPr/>
          <p:nvPr/>
        </p:nvSpPr>
        <p:spPr>
          <a:xfrm>
            <a:off x="6309360" y="2148840"/>
            <a:ext cx="4892040" cy="1234440"/>
          </a:xfrm>
          <a:prstGeom prst="roundRect">
            <a:avLst>
              <a:gd name="adj" fmla="val 5926"/>
            </a:avLst>
          </a:prstGeom>
          <a:solidFill>
            <a:srgbClr val="FFFFFF"/>
          </a:solidFill>
          <a:ln w="12700">
            <a:solidFill>
              <a:srgbClr val="DDE9F1"/>
            </a:solidFill>
            <a:prstDash val="solid"/>
          </a:ln>
        </p:spPr>
      </p:sp>
      <p:sp>
        <p:nvSpPr>
          <p:cNvPr id="12" name="Shape 9"/>
          <p:cNvSpPr/>
          <p:nvPr/>
        </p:nvSpPr>
        <p:spPr>
          <a:xfrm>
            <a:off x="6309360" y="2148840"/>
            <a:ext cx="73152" cy="1234440"/>
          </a:xfrm>
          <a:prstGeom prst="rect">
            <a:avLst/>
          </a:prstGeom>
          <a:solidFill>
            <a:srgbClr val="10B8A6"/>
          </a:solidFill>
          <a:ln w="12700">
            <a:solidFill>
              <a:srgbClr val="333333">
                <a:alpha val="0"/>
              </a:srgbClr>
            </a:solidFill>
            <a:prstDash val="solid"/>
          </a:ln>
        </p:spPr>
      </p:sp>
      <p:sp>
        <p:nvSpPr>
          <p:cNvPr id="13" name="Text 10"/>
          <p:cNvSpPr/>
          <p:nvPr/>
        </p:nvSpPr>
        <p:spPr>
          <a:xfrm>
            <a:off x="6565392" y="2350008"/>
            <a:ext cx="443484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Core idea</a:t>
            </a:r>
            <a:endParaRPr lang="en-US" sz="1800" dirty="0"/>
          </a:p>
        </p:txBody>
      </p:sp>
      <p:sp>
        <p:nvSpPr>
          <p:cNvPr id="14" name="Text 11"/>
          <p:cNvSpPr/>
          <p:nvPr/>
        </p:nvSpPr>
        <p:spPr>
          <a:xfrm>
            <a:off x="6565392" y="2825496"/>
            <a:ext cx="4389120" cy="39319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The CT case is first converted into image slices, then compressed and processed into a form that can be turned into a skeleton and graph.</a:t>
            </a:r>
            <a:endParaRPr lang="en-US" sz="1550" dirty="0"/>
          </a:p>
        </p:txBody>
      </p:sp>
      <p:sp>
        <p:nvSpPr>
          <p:cNvPr id="15" name="Shape 12"/>
          <p:cNvSpPr/>
          <p:nvPr/>
        </p:nvSpPr>
        <p:spPr>
          <a:xfrm>
            <a:off x="6309360" y="3703320"/>
            <a:ext cx="4892040" cy="1371600"/>
          </a:xfrm>
          <a:prstGeom prst="roundRect">
            <a:avLst>
              <a:gd name="adj" fmla="val 5333"/>
            </a:avLst>
          </a:prstGeom>
          <a:solidFill>
            <a:srgbClr val="FFFFFF"/>
          </a:solidFill>
          <a:ln w="12700">
            <a:solidFill>
              <a:srgbClr val="DDE9F1"/>
            </a:solidFill>
            <a:prstDash val="solid"/>
          </a:ln>
        </p:spPr>
      </p:sp>
      <p:sp>
        <p:nvSpPr>
          <p:cNvPr id="16" name="Shape 13"/>
          <p:cNvSpPr/>
          <p:nvPr/>
        </p:nvSpPr>
        <p:spPr>
          <a:xfrm>
            <a:off x="6309360" y="3703320"/>
            <a:ext cx="73152" cy="1371600"/>
          </a:xfrm>
          <a:prstGeom prst="rect">
            <a:avLst/>
          </a:prstGeom>
          <a:solidFill>
            <a:srgbClr val="842A49"/>
          </a:solidFill>
          <a:ln w="12700">
            <a:solidFill>
              <a:srgbClr val="333333">
                <a:alpha val="0"/>
              </a:srgbClr>
            </a:solidFill>
            <a:prstDash val="solid"/>
          </a:ln>
        </p:spPr>
      </p:sp>
      <p:sp>
        <p:nvSpPr>
          <p:cNvPr id="17" name="Text 14"/>
          <p:cNvSpPr/>
          <p:nvPr/>
        </p:nvSpPr>
        <p:spPr>
          <a:xfrm>
            <a:off x="6565392" y="3904488"/>
            <a:ext cx="443484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Algorithms referenced</a:t>
            </a:r>
            <a:endParaRPr lang="en-US" sz="1800" dirty="0"/>
          </a:p>
        </p:txBody>
      </p:sp>
      <p:sp>
        <p:nvSpPr>
          <p:cNvPr id="18" name="Text 15"/>
          <p:cNvSpPr/>
          <p:nvPr/>
        </p:nvSpPr>
        <p:spPr>
          <a:xfrm>
            <a:off x="6565392" y="4379976"/>
            <a:ext cx="4389120" cy="5303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Sobel edge detection • binary masking • Zhang-Suen thinning • custom Graph ADT • KNN-style similarity • Dijkstra and A* pathfinding.</a:t>
            </a:r>
            <a:endParaRPr lang="en-US" sz="1550" dirty="0"/>
          </a:p>
        </p:txBody>
      </p:sp>
      <p:sp>
        <p:nvSpPr>
          <p:cNvPr id="19" name="Text 16"/>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Image Processing + Feature Extraction</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Turning image data into measurable structure</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07</a:t>
            </a:r>
            <a:endParaRPr lang="en-US" sz="850" dirty="0"/>
          </a:p>
        </p:txBody>
      </p:sp>
      <p:sp>
        <p:nvSpPr>
          <p:cNvPr id="8" name="Shape 6"/>
          <p:cNvSpPr/>
          <p:nvPr/>
        </p:nvSpPr>
        <p:spPr>
          <a:xfrm>
            <a:off x="685800" y="1325880"/>
            <a:ext cx="2651760" cy="2651760"/>
          </a:xfrm>
          <a:prstGeom prst="roundRect">
            <a:avLst>
              <a:gd name="adj" fmla="val 2759"/>
            </a:avLst>
          </a:prstGeom>
          <a:solidFill>
            <a:srgbClr val="FFFFFF"/>
          </a:solidFill>
          <a:ln w="12700">
            <a:solidFill>
              <a:srgbClr val="D9E6EF"/>
            </a:solidFill>
            <a:prstDash val="solid"/>
          </a:ln>
        </p:spPr>
      </p:sp>
      <p:pic>
        <p:nvPicPr>
          <p:cNvPr id="9" name="Image 0" descr="/mnt/data/airway_final_assets/compressed_panel.png">    </p:cNvPr>
          <p:cNvPicPr>
            <a:picLocks noChangeAspect="1"/>
          </p:cNvPicPr>
          <p:nvPr/>
        </p:nvPicPr>
        <p:blipFill>
          <a:blip r:embed="rId1"/>
          <a:stretch>
            <a:fillRect/>
          </a:stretch>
        </p:blipFill>
        <p:spPr>
          <a:xfrm>
            <a:off x="758952" y="1414309"/>
            <a:ext cx="2505456" cy="2474902"/>
          </a:xfrm>
          <a:prstGeom prst="rect">
            <a:avLst/>
          </a:prstGeom>
        </p:spPr>
      </p:pic>
      <p:sp>
        <p:nvSpPr>
          <p:cNvPr id="10" name="Shape 7"/>
          <p:cNvSpPr/>
          <p:nvPr/>
        </p:nvSpPr>
        <p:spPr>
          <a:xfrm>
            <a:off x="3611880" y="1325880"/>
            <a:ext cx="2651760" cy="2651760"/>
          </a:xfrm>
          <a:prstGeom prst="roundRect">
            <a:avLst>
              <a:gd name="adj" fmla="val 2759"/>
            </a:avLst>
          </a:prstGeom>
          <a:solidFill>
            <a:srgbClr val="FFFFFF"/>
          </a:solidFill>
          <a:ln w="12700">
            <a:solidFill>
              <a:srgbClr val="D9E6EF"/>
            </a:solidFill>
            <a:prstDash val="solid"/>
          </a:ln>
        </p:spPr>
      </p:sp>
      <p:pic>
        <p:nvPicPr>
          <p:cNvPr id="11" name="Image 1" descr="/mnt/data/airway_final_assets/edge_panel.png">    </p:cNvPr>
          <p:cNvPicPr>
            <a:picLocks noChangeAspect="1"/>
          </p:cNvPicPr>
          <p:nvPr/>
        </p:nvPicPr>
        <p:blipFill>
          <a:blip r:embed="rId2"/>
          <a:stretch>
            <a:fillRect/>
          </a:stretch>
        </p:blipFill>
        <p:spPr>
          <a:xfrm>
            <a:off x="3685032" y="1414309"/>
            <a:ext cx="2505456" cy="2474902"/>
          </a:xfrm>
          <a:prstGeom prst="rect">
            <a:avLst/>
          </a:prstGeom>
        </p:spPr>
      </p:pic>
      <p:sp>
        <p:nvSpPr>
          <p:cNvPr id="12" name="Shape 8"/>
          <p:cNvSpPr/>
          <p:nvPr/>
        </p:nvSpPr>
        <p:spPr>
          <a:xfrm>
            <a:off x="6537960" y="1325880"/>
            <a:ext cx="2651760" cy="2651760"/>
          </a:xfrm>
          <a:prstGeom prst="roundRect">
            <a:avLst>
              <a:gd name="adj" fmla="val 2759"/>
            </a:avLst>
          </a:prstGeom>
          <a:solidFill>
            <a:srgbClr val="FFFFFF"/>
          </a:solidFill>
          <a:ln w="12700">
            <a:solidFill>
              <a:srgbClr val="D9E6EF"/>
            </a:solidFill>
            <a:prstDash val="solid"/>
          </a:ln>
        </p:spPr>
      </p:sp>
      <p:pic>
        <p:nvPicPr>
          <p:cNvPr id="13" name="Image 2" descr="/mnt/data/airway_final_assets/graph_panel.png">    </p:cNvPr>
          <p:cNvPicPr>
            <a:picLocks noChangeAspect="1"/>
          </p:cNvPicPr>
          <p:nvPr/>
        </p:nvPicPr>
        <p:blipFill>
          <a:blip r:embed="rId3"/>
          <a:stretch>
            <a:fillRect/>
          </a:stretch>
        </p:blipFill>
        <p:spPr>
          <a:xfrm>
            <a:off x="6611112" y="1414309"/>
            <a:ext cx="2505456" cy="2474902"/>
          </a:xfrm>
          <a:prstGeom prst="rect">
            <a:avLst/>
          </a:prstGeom>
        </p:spPr>
      </p:pic>
      <p:sp>
        <p:nvSpPr>
          <p:cNvPr id="14" name="Shape 9"/>
          <p:cNvSpPr/>
          <p:nvPr/>
        </p:nvSpPr>
        <p:spPr>
          <a:xfrm>
            <a:off x="1143000" y="4160520"/>
            <a:ext cx="1737360" cy="347472"/>
          </a:xfrm>
          <a:prstGeom prst="roundRect">
            <a:avLst>
              <a:gd name="adj" fmla="val 15789"/>
            </a:avLst>
          </a:prstGeom>
          <a:solidFill>
            <a:srgbClr val="10B8A6"/>
          </a:solidFill>
          <a:ln w="12700">
            <a:solidFill>
              <a:srgbClr val="333333">
                <a:alpha val="0"/>
              </a:srgbClr>
            </a:solidFill>
            <a:prstDash val="solid"/>
          </a:ln>
        </p:spPr>
      </p:sp>
      <p:sp>
        <p:nvSpPr>
          <p:cNvPr id="15" name="Text 10"/>
          <p:cNvSpPr/>
          <p:nvPr/>
        </p:nvSpPr>
        <p:spPr>
          <a:xfrm>
            <a:off x="1216152" y="4242816"/>
            <a:ext cx="159105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Compressed</a:t>
            </a:r>
            <a:endParaRPr lang="en-US" sz="820" dirty="0"/>
          </a:p>
        </p:txBody>
      </p:sp>
      <p:sp>
        <p:nvSpPr>
          <p:cNvPr id="16" name="Shape 11"/>
          <p:cNvSpPr/>
          <p:nvPr/>
        </p:nvSpPr>
        <p:spPr>
          <a:xfrm>
            <a:off x="4069080" y="4160520"/>
            <a:ext cx="1737360" cy="347472"/>
          </a:xfrm>
          <a:prstGeom prst="roundRect">
            <a:avLst>
              <a:gd name="adj" fmla="val 15789"/>
            </a:avLst>
          </a:prstGeom>
          <a:solidFill>
            <a:srgbClr val="842A49"/>
          </a:solidFill>
          <a:ln w="12700">
            <a:solidFill>
              <a:srgbClr val="333333">
                <a:alpha val="0"/>
              </a:srgbClr>
            </a:solidFill>
            <a:prstDash val="solid"/>
          </a:ln>
        </p:spPr>
      </p:sp>
      <p:sp>
        <p:nvSpPr>
          <p:cNvPr id="17" name="Text 12"/>
          <p:cNvSpPr/>
          <p:nvPr/>
        </p:nvSpPr>
        <p:spPr>
          <a:xfrm>
            <a:off x="4142232" y="4242816"/>
            <a:ext cx="159105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Edge Image</a:t>
            </a:r>
            <a:endParaRPr lang="en-US" sz="820" dirty="0"/>
          </a:p>
        </p:txBody>
      </p:sp>
      <p:sp>
        <p:nvSpPr>
          <p:cNvPr id="18" name="Shape 13"/>
          <p:cNvSpPr/>
          <p:nvPr/>
        </p:nvSpPr>
        <p:spPr>
          <a:xfrm>
            <a:off x="6995160" y="4160520"/>
            <a:ext cx="1737360" cy="347472"/>
          </a:xfrm>
          <a:prstGeom prst="roundRect">
            <a:avLst>
              <a:gd name="adj" fmla="val 15789"/>
            </a:avLst>
          </a:prstGeom>
          <a:solidFill>
            <a:srgbClr val="12213A"/>
          </a:solidFill>
          <a:ln w="12700">
            <a:solidFill>
              <a:srgbClr val="333333">
                <a:alpha val="0"/>
              </a:srgbClr>
            </a:solidFill>
            <a:prstDash val="solid"/>
          </a:ln>
        </p:spPr>
      </p:sp>
      <p:sp>
        <p:nvSpPr>
          <p:cNvPr id="19" name="Text 14"/>
          <p:cNvSpPr/>
          <p:nvPr/>
        </p:nvSpPr>
        <p:spPr>
          <a:xfrm>
            <a:off x="7068312" y="4242816"/>
            <a:ext cx="159105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Graph Overlay</a:t>
            </a:r>
            <a:endParaRPr lang="en-US" sz="820" dirty="0"/>
          </a:p>
        </p:txBody>
      </p:sp>
      <p:sp>
        <p:nvSpPr>
          <p:cNvPr id="20" name="Text 15"/>
          <p:cNvSpPr/>
          <p:nvPr/>
        </p:nvSpPr>
        <p:spPr>
          <a:xfrm>
            <a:off x="731520" y="4956048"/>
            <a:ext cx="384048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Structural features extracted</a:t>
            </a:r>
            <a:endParaRPr lang="en-US" sz="1800" dirty="0"/>
          </a:p>
        </p:txBody>
      </p:sp>
      <p:sp>
        <p:nvSpPr>
          <p:cNvPr id="21" name="Shape 16"/>
          <p:cNvSpPr/>
          <p:nvPr/>
        </p:nvSpPr>
        <p:spPr>
          <a:xfrm>
            <a:off x="731520" y="5468112"/>
            <a:ext cx="1417320" cy="438912"/>
          </a:xfrm>
          <a:prstGeom prst="roundRect">
            <a:avLst>
              <a:gd name="adj" fmla="val 20833"/>
            </a:avLst>
          </a:prstGeom>
          <a:solidFill>
            <a:srgbClr val="10B8A6"/>
          </a:solidFill>
          <a:ln w="12700">
            <a:solidFill>
              <a:srgbClr val="333333">
                <a:alpha val="0"/>
              </a:srgbClr>
            </a:solidFill>
            <a:prstDash val="solid"/>
          </a:ln>
        </p:spPr>
      </p:sp>
      <p:sp>
        <p:nvSpPr>
          <p:cNvPr id="22" name="Text 17"/>
          <p:cNvSpPr/>
          <p:nvPr/>
        </p:nvSpPr>
        <p:spPr>
          <a:xfrm>
            <a:off x="804672" y="5605272"/>
            <a:ext cx="127101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Branch Count</a:t>
            </a:r>
            <a:endParaRPr lang="en-US" sz="850" dirty="0"/>
          </a:p>
        </p:txBody>
      </p:sp>
      <p:sp>
        <p:nvSpPr>
          <p:cNvPr id="23" name="Shape 18"/>
          <p:cNvSpPr/>
          <p:nvPr/>
        </p:nvSpPr>
        <p:spPr>
          <a:xfrm>
            <a:off x="2331720" y="5468112"/>
            <a:ext cx="1828800" cy="438912"/>
          </a:xfrm>
          <a:prstGeom prst="roundRect">
            <a:avLst>
              <a:gd name="adj" fmla="val 20833"/>
            </a:avLst>
          </a:prstGeom>
          <a:solidFill>
            <a:srgbClr val="842A49"/>
          </a:solidFill>
          <a:ln w="12700">
            <a:solidFill>
              <a:srgbClr val="333333">
                <a:alpha val="0"/>
              </a:srgbClr>
            </a:solidFill>
            <a:prstDash val="solid"/>
          </a:ln>
        </p:spPr>
      </p:sp>
      <p:sp>
        <p:nvSpPr>
          <p:cNvPr id="24" name="Text 19"/>
          <p:cNvSpPr/>
          <p:nvPr/>
        </p:nvSpPr>
        <p:spPr>
          <a:xfrm>
            <a:off x="2404872" y="5605272"/>
            <a:ext cx="16824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Branch Point Count</a:t>
            </a:r>
            <a:endParaRPr lang="en-US" sz="850" dirty="0"/>
          </a:p>
        </p:txBody>
      </p:sp>
      <p:sp>
        <p:nvSpPr>
          <p:cNvPr id="25" name="Shape 20"/>
          <p:cNvSpPr/>
          <p:nvPr/>
        </p:nvSpPr>
        <p:spPr>
          <a:xfrm>
            <a:off x="4370832" y="5468112"/>
            <a:ext cx="1783080" cy="438912"/>
          </a:xfrm>
          <a:prstGeom prst="roundRect">
            <a:avLst>
              <a:gd name="adj" fmla="val 20833"/>
            </a:avLst>
          </a:prstGeom>
          <a:solidFill>
            <a:srgbClr val="12213A"/>
          </a:solidFill>
          <a:ln w="12700">
            <a:solidFill>
              <a:srgbClr val="333333">
                <a:alpha val="0"/>
              </a:srgbClr>
            </a:solidFill>
            <a:prstDash val="solid"/>
          </a:ln>
        </p:spPr>
      </p:sp>
      <p:sp>
        <p:nvSpPr>
          <p:cNvPr id="26" name="Text 21"/>
          <p:cNvSpPr/>
          <p:nvPr/>
        </p:nvSpPr>
        <p:spPr>
          <a:xfrm>
            <a:off x="4443984" y="5605272"/>
            <a:ext cx="163677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Average Tapering</a:t>
            </a:r>
            <a:endParaRPr lang="en-US" sz="850" dirty="0"/>
          </a:p>
        </p:txBody>
      </p:sp>
      <p:sp>
        <p:nvSpPr>
          <p:cNvPr id="27" name="Shape 22"/>
          <p:cNvSpPr/>
          <p:nvPr/>
        </p:nvSpPr>
        <p:spPr>
          <a:xfrm>
            <a:off x="6355080" y="5468112"/>
            <a:ext cx="1828800" cy="438912"/>
          </a:xfrm>
          <a:prstGeom prst="roundRect">
            <a:avLst>
              <a:gd name="adj" fmla="val 20833"/>
            </a:avLst>
          </a:prstGeom>
          <a:solidFill>
            <a:srgbClr val="10B8A6"/>
          </a:solidFill>
          <a:ln w="12700">
            <a:solidFill>
              <a:srgbClr val="333333">
                <a:alpha val="0"/>
              </a:srgbClr>
            </a:solidFill>
            <a:prstDash val="solid"/>
          </a:ln>
        </p:spPr>
      </p:sp>
      <p:sp>
        <p:nvSpPr>
          <p:cNvPr id="28" name="Text 23"/>
          <p:cNvSpPr/>
          <p:nvPr/>
        </p:nvSpPr>
        <p:spPr>
          <a:xfrm>
            <a:off x="6428232" y="5605272"/>
            <a:ext cx="16824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Average Tortuosity</a:t>
            </a:r>
            <a:endParaRPr lang="en-US" sz="850" dirty="0"/>
          </a:p>
        </p:txBody>
      </p:sp>
      <p:sp>
        <p:nvSpPr>
          <p:cNvPr id="29" name="Shape 24"/>
          <p:cNvSpPr/>
          <p:nvPr/>
        </p:nvSpPr>
        <p:spPr>
          <a:xfrm>
            <a:off x="8394192" y="5468112"/>
            <a:ext cx="2057400" cy="438912"/>
          </a:xfrm>
          <a:prstGeom prst="roundRect">
            <a:avLst>
              <a:gd name="adj" fmla="val 20833"/>
            </a:avLst>
          </a:prstGeom>
          <a:solidFill>
            <a:srgbClr val="842A49"/>
          </a:solidFill>
          <a:ln w="12700">
            <a:solidFill>
              <a:srgbClr val="333333">
                <a:alpha val="0"/>
              </a:srgbClr>
            </a:solidFill>
            <a:prstDash val="solid"/>
          </a:ln>
        </p:spPr>
      </p:sp>
      <p:sp>
        <p:nvSpPr>
          <p:cNvPr id="30" name="Text 25"/>
          <p:cNvSpPr/>
          <p:nvPr/>
        </p:nvSpPr>
        <p:spPr>
          <a:xfrm>
            <a:off x="8467344" y="5605272"/>
            <a:ext cx="1911096" cy="146304"/>
          </a:xfrm>
          <a:prstGeom prst="rect">
            <a:avLst/>
          </a:prstGeom>
          <a:noFill/>
          <a:ln/>
        </p:spPr>
        <p:txBody>
          <a:bodyPr wrap="square" lIns="0" tIns="0" rIns="0" bIns="0" rtlCol="0" anchor="t">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Abrupt-Ending Ratio</a:t>
            </a:r>
            <a:endParaRPr lang="en-US" sz="850" dirty="0"/>
          </a:p>
        </p:txBody>
      </p:sp>
      <p:sp>
        <p:nvSpPr>
          <p:cNvPr id="31" name="Text 26"/>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Graph, Similarity + Pathfinding</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How the airway is reviewed computationally</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08</a:t>
            </a:r>
            <a:endParaRPr lang="en-US" sz="850" dirty="0"/>
          </a:p>
        </p:txBody>
      </p:sp>
      <p:sp>
        <p:nvSpPr>
          <p:cNvPr id="8" name="Shape 6"/>
          <p:cNvSpPr/>
          <p:nvPr/>
        </p:nvSpPr>
        <p:spPr>
          <a:xfrm>
            <a:off x="685800" y="1234440"/>
            <a:ext cx="3108960" cy="3108960"/>
          </a:xfrm>
          <a:prstGeom prst="roundRect">
            <a:avLst>
              <a:gd name="adj" fmla="val 2353"/>
            </a:avLst>
          </a:prstGeom>
          <a:solidFill>
            <a:srgbClr val="FFFFFF"/>
          </a:solidFill>
          <a:ln w="12700">
            <a:solidFill>
              <a:srgbClr val="D9E6EF"/>
            </a:solidFill>
            <a:prstDash val="solid"/>
          </a:ln>
        </p:spPr>
      </p:sp>
      <p:pic>
        <p:nvPicPr>
          <p:cNvPr id="9" name="Image 0" descr="/mnt/data/airway_final_assets/graph_panel.png">    </p:cNvPr>
          <p:cNvPicPr>
            <a:picLocks noChangeAspect="1"/>
          </p:cNvPicPr>
          <p:nvPr/>
        </p:nvPicPr>
        <p:blipFill>
          <a:blip r:embed="rId1"/>
          <a:stretch>
            <a:fillRect/>
          </a:stretch>
        </p:blipFill>
        <p:spPr>
          <a:xfrm>
            <a:off x="758952" y="1325657"/>
            <a:ext cx="2962656" cy="2926526"/>
          </a:xfrm>
          <a:prstGeom prst="rect">
            <a:avLst/>
          </a:prstGeom>
        </p:spPr>
      </p:pic>
      <p:sp>
        <p:nvSpPr>
          <p:cNvPr id="10" name="Shape 7"/>
          <p:cNvSpPr/>
          <p:nvPr/>
        </p:nvSpPr>
        <p:spPr>
          <a:xfrm>
            <a:off x="4114800" y="1234440"/>
            <a:ext cx="3246120" cy="1417320"/>
          </a:xfrm>
          <a:prstGeom prst="roundRect">
            <a:avLst>
              <a:gd name="adj" fmla="val 5161"/>
            </a:avLst>
          </a:prstGeom>
          <a:solidFill>
            <a:srgbClr val="FFFFFF"/>
          </a:solidFill>
          <a:ln w="12700">
            <a:solidFill>
              <a:srgbClr val="DDE9F1"/>
            </a:solidFill>
            <a:prstDash val="solid"/>
          </a:ln>
        </p:spPr>
      </p:sp>
      <p:sp>
        <p:nvSpPr>
          <p:cNvPr id="11" name="Shape 8"/>
          <p:cNvSpPr/>
          <p:nvPr/>
        </p:nvSpPr>
        <p:spPr>
          <a:xfrm>
            <a:off x="4114800" y="1234440"/>
            <a:ext cx="73152" cy="1417320"/>
          </a:xfrm>
          <a:prstGeom prst="rect">
            <a:avLst/>
          </a:prstGeom>
          <a:solidFill>
            <a:srgbClr val="10B8A6"/>
          </a:solidFill>
          <a:ln w="12700">
            <a:solidFill>
              <a:srgbClr val="333333">
                <a:alpha val="0"/>
              </a:srgbClr>
            </a:solidFill>
            <a:prstDash val="solid"/>
          </a:ln>
        </p:spPr>
      </p:sp>
      <p:sp>
        <p:nvSpPr>
          <p:cNvPr id="12" name="Text 9"/>
          <p:cNvSpPr/>
          <p:nvPr/>
        </p:nvSpPr>
        <p:spPr>
          <a:xfrm>
            <a:off x="4370832" y="1435608"/>
            <a:ext cx="278892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Graph representation</a:t>
            </a:r>
            <a:endParaRPr lang="en-US" sz="1800" dirty="0"/>
          </a:p>
        </p:txBody>
      </p:sp>
      <p:sp>
        <p:nvSpPr>
          <p:cNvPr id="13" name="Text 10"/>
          <p:cNvSpPr/>
          <p:nvPr/>
        </p:nvSpPr>
        <p:spPr>
          <a:xfrm>
            <a:off x="4370832" y="1911096"/>
            <a:ext cx="2743200" cy="57607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Nodes represent airway branch points or endpoints. Edges represent airway segments connecting those points.</a:t>
            </a:r>
            <a:endParaRPr lang="en-US" sz="1550" dirty="0"/>
          </a:p>
        </p:txBody>
      </p:sp>
      <p:sp>
        <p:nvSpPr>
          <p:cNvPr id="14" name="Shape 11"/>
          <p:cNvSpPr/>
          <p:nvPr/>
        </p:nvSpPr>
        <p:spPr>
          <a:xfrm>
            <a:off x="4114800" y="2907792"/>
            <a:ext cx="3246120" cy="1417320"/>
          </a:xfrm>
          <a:prstGeom prst="roundRect">
            <a:avLst>
              <a:gd name="adj" fmla="val 5161"/>
            </a:avLst>
          </a:prstGeom>
          <a:solidFill>
            <a:srgbClr val="FFFFFF"/>
          </a:solidFill>
          <a:ln w="12700">
            <a:solidFill>
              <a:srgbClr val="DDE9F1"/>
            </a:solidFill>
            <a:prstDash val="solid"/>
          </a:ln>
        </p:spPr>
      </p:sp>
      <p:sp>
        <p:nvSpPr>
          <p:cNvPr id="15" name="Shape 12"/>
          <p:cNvSpPr/>
          <p:nvPr/>
        </p:nvSpPr>
        <p:spPr>
          <a:xfrm>
            <a:off x="4114800" y="2907792"/>
            <a:ext cx="73152" cy="1417320"/>
          </a:xfrm>
          <a:prstGeom prst="rect">
            <a:avLst/>
          </a:prstGeom>
          <a:solidFill>
            <a:srgbClr val="842A49"/>
          </a:solidFill>
          <a:ln w="12700">
            <a:solidFill>
              <a:srgbClr val="333333">
                <a:alpha val="0"/>
              </a:srgbClr>
            </a:solidFill>
            <a:prstDash val="solid"/>
          </a:ln>
        </p:spPr>
      </p:sp>
      <p:sp>
        <p:nvSpPr>
          <p:cNvPr id="16" name="Text 13"/>
          <p:cNvSpPr/>
          <p:nvPr/>
        </p:nvSpPr>
        <p:spPr>
          <a:xfrm>
            <a:off x="4370832" y="3108960"/>
            <a:ext cx="278892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Similarity detection</a:t>
            </a:r>
            <a:endParaRPr lang="en-US" sz="1800" dirty="0"/>
          </a:p>
        </p:txBody>
      </p:sp>
      <p:sp>
        <p:nvSpPr>
          <p:cNvPr id="17" name="Text 14"/>
          <p:cNvSpPr/>
          <p:nvPr/>
        </p:nvSpPr>
        <p:spPr>
          <a:xfrm>
            <a:off x="4370832" y="3584448"/>
            <a:ext cx="2743200" cy="57607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A KNN-style feature comparison finds saved cases that are structurally close to the selected case.</a:t>
            </a:r>
            <a:endParaRPr lang="en-US" sz="1550" dirty="0"/>
          </a:p>
        </p:txBody>
      </p:sp>
      <p:sp>
        <p:nvSpPr>
          <p:cNvPr id="18" name="Shape 15"/>
          <p:cNvSpPr/>
          <p:nvPr/>
        </p:nvSpPr>
        <p:spPr>
          <a:xfrm>
            <a:off x="7680960" y="1234440"/>
            <a:ext cx="3383280" cy="3090672"/>
          </a:xfrm>
          <a:prstGeom prst="roundRect">
            <a:avLst>
              <a:gd name="adj" fmla="val 2367"/>
            </a:avLst>
          </a:prstGeom>
          <a:solidFill>
            <a:srgbClr val="FFFFFF"/>
          </a:solidFill>
          <a:ln w="12700">
            <a:solidFill>
              <a:srgbClr val="DDE9F1"/>
            </a:solidFill>
            <a:prstDash val="solid"/>
          </a:ln>
        </p:spPr>
      </p:sp>
      <p:sp>
        <p:nvSpPr>
          <p:cNvPr id="19" name="Shape 16"/>
          <p:cNvSpPr/>
          <p:nvPr/>
        </p:nvSpPr>
        <p:spPr>
          <a:xfrm>
            <a:off x="7680960" y="1234440"/>
            <a:ext cx="73152" cy="3090672"/>
          </a:xfrm>
          <a:prstGeom prst="rect">
            <a:avLst/>
          </a:prstGeom>
          <a:solidFill>
            <a:srgbClr val="12213A"/>
          </a:solidFill>
          <a:ln w="12700">
            <a:solidFill>
              <a:srgbClr val="333333">
                <a:alpha val="0"/>
              </a:srgbClr>
            </a:solidFill>
            <a:prstDash val="solid"/>
          </a:ln>
        </p:spPr>
      </p:sp>
      <p:sp>
        <p:nvSpPr>
          <p:cNvPr id="20" name="Text 17"/>
          <p:cNvSpPr/>
          <p:nvPr/>
        </p:nvSpPr>
        <p:spPr>
          <a:xfrm>
            <a:off x="7936992" y="1435608"/>
            <a:ext cx="292608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Pathfinding</a:t>
            </a:r>
            <a:endParaRPr lang="en-US" sz="1800" dirty="0"/>
          </a:p>
        </p:txBody>
      </p:sp>
      <p:sp>
        <p:nvSpPr>
          <p:cNvPr id="21" name="Text 18"/>
          <p:cNvSpPr/>
          <p:nvPr/>
        </p:nvSpPr>
        <p:spPr>
          <a:xfrm>
            <a:off x="7936992" y="1911096"/>
            <a:ext cx="2880360" cy="2249424"/>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Dijkstra/A* trace a route from the main airway to a selected suspicious node so the user can see where attention is needed.</a:t>
            </a:r>
            <a:endParaRPr lang="en-US" sz="1550" dirty="0"/>
          </a:p>
        </p:txBody>
      </p:sp>
      <p:sp>
        <p:nvSpPr>
          <p:cNvPr id="22" name="Shape 19"/>
          <p:cNvSpPr/>
          <p:nvPr/>
        </p:nvSpPr>
        <p:spPr>
          <a:xfrm>
            <a:off x="685800" y="4736592"/>
            <a:ext cx="4983480" cy="1143000"/>
          </a:xfrm>
          <a:prstGeom prst="roundRect">
            <a:avLst>
              <a:gd name="adj" fmla="val 6400"/>
            </a:avLst>
          </a:prstGeom>
          <a:solidFill>
            <a:srgbClr val="FFFFFF"/>
          </a:solidFill>
          <a:ln w="12700">
            <a:solidFill>
              <a:srgbClr val="D9E6EF"/>
            </a:solidFill>
            <a:prstDash val="solid"/>
          </a:ln>
        </p:spPr>
      </p:sp>
      <p:pic>
        <p:nvPicPr>
          <p:cNvPr id="23" name="Image 1" descr="/mnt/data/7d21adcc-fa8d-4c8b-ae06-1263c4927209.jpg">    </p:cNvPr>
          <p:cNvPicPr>
            <a:picLocks noChangeAspect="1"/>
          </p:cNvPicPr>
          <p:nvPr/>
        </p:nvPicPr>
        <p:blipFill>
          <a:blip r:embed="rId2"/>
          <a:srcRect l="0" r="0" t="35968" b="35968"/>
          <a:stretch/>
        </p:blipFill>
        <p:spPr>
          <a:xfrm>
            <a:off x="758952" y="4809744"/>
            <a:ext cx="4837176" cy="996696"/>
          </a:xfrm>
          <a:prstGeom prst="rect">
            <a:avLst/>
          </a:prstGeom>
        </p:spPr>
      </p:pic>
      <p:sp>
        <p:nvSpPr>
          <p:cNvPr id="24" name="Shape 20"/>
          <p:cNvSpPr/>
          <p:nvPr/>
        </p:nvSpPr>
        <p:spPr>
          <a:xfrm>
            <a:off x="5989320" y="4736592"/>
            <a:ext cx="4983480" cy="1143000"/>
          </a:xfrm>
          <a:prstGeom prst="roundRect">
            <a:avLst>
              <a:gd name="adj" fmla="val 6400"/>
            </a:avLst>
          </a:prstGeom>
          <a:solidFill>
            <a:srgbClr val="FFFFFF"/>
          </a:solidFill>
          <a:ln w="12700">
            <a:solidFill>
              <a:srgbClr val="D9E6EF"/>
            </a:solidFill>
            <a:prstDash val="solid"/>
          </a:ln>
        </p:spPr>
      </p:sp>
      <p:pic>
        <p:nvPicPr>
          <p:cNvPr id="25" name="Image 2" descr="/mnt/data/57511b8b-ea31-400b-b27f-30a378fbd1c4.jpg">    </p:cNvPr>
          <p:cNvPicPr>
            <a:picLocks noChangeAspect="1"/>
          </p:cNvPicPr>
          <p:nvPr/>
        </p:nvPicPr>
        <p:blipFill>
          <a:blip r:embed="rId3"/>
          <a:srcRect l="0" r="0" t="32969" b="32969"/>
          <a:stretch/>
        </p:blipFill>
        <p:spPr>
          <a:xfrm>
            <a:off x="6062472" y="4809744"/>
            <a:ext cx="4837176" cy="996696"/>
          </a:xfrm>
          <a:prstGeom prst="rect">
            <a:avLst/>
          </a:prstGeom>
        </p:spPr>
      </p:pic>
      <p:sp>
        <p:nvSpPr>
          <p:cNvPr id="26" name="Text 21"/>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User Interface</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How information is displayed to the user</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09</a:t>
            </a:r>
            <a:endParaRPr lang="en-US" sz="850" dirty="0"/>
          </a:p>
        </p:txBody>
      </p:sp>
      <p:sp>
        <p:nvSpPr>
          <p:cNvPr id="8" name="Shape 6"/>
          <p:cNvSpPr/>
          <p:nvPr/>
        </p:nvSpPr>
        <p:spPr>
          <a:xfrm>
            <a:off x="594360" y="1325880"/>
            <a:ext cx="8549640" cy="4526280"/>
          </a:xfrm>
          <a:prstGeom prst="roundRect">
            <a:avLst>
              <a:gd name="adj" fmla="val 1616"/>
            </a:avLst>
          </a:prstGeom>
          <a:solidFill>
            <a:srgbClr val="FFFFFF"/>
          </a:solidFill>
          <a:ln w="12700">
            <a:solidFill>
              <a:srgbClr val="D9E6EF"/>
            </a:solidFill>
            <a:prstDash val="solid"/>
          </a:ln>
        </p:spPr>
      </p:sp>
      <p:pic>
        <p:nvPicPr>
          <p:cNvPr id="9" name="Image 0" descr="/mnt/data/d344b152-d8b9-48e4-84e1-0a5477249723.png">    </p:cNvPr>
          <p:cNvPicPr>
            <a:picLocks noChangeAspect="1"/>
          </p:cNvPicPr>
          <p:nvPr/>
        </p:nvPicPr>
        <p:blipFill>
          <a:blip r:embed="rId1"/>
          <a:stretch>
            <a:fillRect/>
          </a:stretch>
        </p:blipFill>
        <p:spPr>
          <a:xfrm>
            <a:off x="843714" y="1399032"/>
            <a:ext cx="8050933" cy="4379976"/>
          </a:xfrm>
          <a:prstGeom prst="rect">
            <a:avLst/>
          </a:prstGeom>
        </p:spPr>
      </p:pic>
      <p:sp>
        <p:nvSpPr>
          <p:cNvPr id="10" name="Shape 7"/>
          <p:cNvSpPr/>
          <p:nvPr/>
        </p:nvSpPr>
        <p:spPr>
          <a:xfrm>
            <a:off x="9400032" y="1325880"/>
            <a:ext cx="2148840" cy="3429000"/>
          </a:xfrm>
          <a:prstGeom prst="roundRect">
            <a:avLst>
              <a:gd name="adj" fmla="val 3404"/>
            </a:avLst>
          </a:prstGeom>
          <a:solidFill>
            <a:srgbClr val="FFFFFF"/>
          </a:solidFill>
          <a:ln w="12700">
            <a:solidFill>
              <a:srgbClr val="DDE9F1"/>
            </a:solidFill>
            <a:prstDash val="solid"/>
          </a:ln>
        </p:spPr>
      </p:sp>
      <p:sp>
        <p:nvSpPr>
          <p:cNvPr id="11" name="Shape 8"/>
          <p:cNvSpPr/>
          <p:nvPr/>
        </p:nvSpPr>
        <p:spPr>
          <a:xfrm>
            <a:off x="9400032" y="1325880"/>
            <a:ext cx="73152" cy="3429000"/>
          </a:xfrm>
          <a:prstGeom prst="rect">
            <a:avLst/>
          </a:prstGeom>
          <a:solidFill>
            <a:srgbClr val="10B8A6"/>
          </a:solidFill>
          <a:ln w="12700">
            <a:solidFill>
              <a:srgbClr val="333333">
                <a:alpha val="0"/>
              </a:srgbClr>
            </a:solidFill>
            <a:prstDash val="solid"/>
          </a:ln>
        </p:spPr>
      </p:sp>
      <p:sp>
        <p:nvSpPr>
          <p:cNvPr id="12" name="Text 9"/>
          <p:cNvSpPr/>
          <p:nvPr/>
        </p:nvSpPr>
        <p:spPr>
          <a:xfrm>
            <a:off x="9656064" y="1527048"/>
            <a:ext cx="169164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Displayed outputs</a:t>
            </a:r>
            <a:endParaRPr lang="en-US" sz="1800" dirty="0"/>
          </a:p>
        </p:txBody>
      </p:sp>
      <p:sp>
        <p:nvSpPr>
          <p:cNvPr id="13" name="Text 10"/>
          <p:cNvSpPr/>
          <p:nvPr/>
        </p:nvSpPr>
        <p:spPr>
          <a:xfrm>
            <a:off x="9656064" y="2002536"/>
            <a:ext cx="1645920" cy="25877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CT preview</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Final compressed airway image</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Edge image</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Graph image</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Case progress</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Suspicious nodes</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Extracted features</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Similarity results</a:t>
            </a:r>
            <a:endParaRPr lang="en-US" sz="1550" dirty="0"/>
          </a:p>
        </p:txBody>
      </p:sp>
      <p:sp>
        <p:nvSpPr>
          <p:cNvPr id="14" name="Shape 11"/>
          <p:cNvSpPr/>
          <p:nvPr/>
        </p:nvSpPr>
        <p:spPr>
          <a:xfrm>
            <a:off x="9555480" y="5047488"/>
            <a:ext cx="1783080" cy="347472"/>
          </a:xfrm>
          <a:prstGeom prst="roundRect">
            <a:avLst>
              <a:gd name="adj" fmla="val 15789"/>
            </a:avLst>
          </a:prstGeom>
          <a:solidFill>
            <a:srgbClr val="842A49"/>
          </a:solidFill>
          <a:ln w="12700">
            <a:solidFill>
              <a:srgbClr val="333333">
                <a:alpha val="0"/>
              </a:srgbClr>
            </a:solidFill>
            <a:prstDash val="solid"/>
          </a:ln>
        </p:spPr>
      </p:sp>
      <p:sp>
        <p:nvSpPr>
          <p:cNvPr id="15" name="Text 12"/>
          <p:cNvSpPr/>
          <p:nvPr/>
        </p:nvSpPr>
        <p:spPr>
          <a:xfrm>
            <a:off x="9628632" y="5129784"/>
            <a:ext cx="1636776" cy="146304"/>
          </a:xfrm>
          <a:prstGeom prst="rect">
            <a:avLst/>
          </a:prstGeom>
          <a:noFill/>
          <a:ln/>
        </p:spPr>
        <p:txBody>
          <a:bodyPr wrap="square" lIns="0" tIns="0" rIns="0" bIns="0" rtlCol="0" anchor="t">
            <a:normAutofit/>
          </a:bodyPr>
          <a:lstStyle/>
          <a:p>
            <a:pPr algn="ctr" indent="0" marL="0">
              <a:buNone/>
            </a:pPr>
            <a:r>
              <a:rPr lang="en-US" sz="820" b="1" dirty="0">
                <a:solidFill>
                  <a:srgbClr val="FFFFFF"/>
                </a:solidFill>
                <a:latin typeface="Aptos" pitchFamily="34" charset="0"/>
                <a:ea typeface="Aptos" pitchFamily="34" charset="-122"/>
                <a:cs typeface="Aptos" pitchFamily="34" charset="-120"/>
              </a:rPr>
              <a:t>Path to Node 19</a:t>
            </a:r>
            <a:endParaRPr lang="en-US" sz="820" dirty="0"/>
          </a:p>
        </p:txBody>
      </p:sp>
      <p:sp>
        <p:nvSpPr>
          <p:cNvPr id="16" name="Text 13"/>
          <p:cNvSpPr/>
          <p:nvPr/>
        </p:nvSpPr>
        <p:spPr>
          <a:xfrm>
            <a:off x="713232" y="6199632"/>
            <a:ext cx="10789920" cy="256032"/>
          </a:xfrm>
          <a:prstGeom prst="rect">
            <a:avLst/>
          </a:prstGeom>
          <a:noFill/>
          <a:ln/>
        </p:spPr>
        <p:txBody>
          <a:bodyPr wrap="square" lIns="0" tIns="0" rIns="0" bIns="0" rtlCol="0" anchor="t">
            <a:normAutofit/>
          </a:bodyPr>
          <a:lstStyle/>
          <a:p>
            <a:pPr algn="ctr" indent="0" marL="0">
              <a:buNone/>
            </a:pPr>
            <a:r>
              <a:rPr lang="en-US" sz="1280" dirty="0">
                <a:solidFill>
                  <a:srgbClr val="5F6B7A"/>
                </a:solidFill>
                <a:latin typeface="Aptos" pitchFamily="34" charset="0"/>
                <a:ea typeface="Aptos" pitchFamily="34" charset="-122"/>
                <a:cs typeface="Aptos" pitchFamily="34" charset="-120"/>
              </a:rPr>
              <a:t>The interface is designed to keep the workflow simple: upload case folder, process case, extract features and review results.</a:t>
            </a:r>
            <a:endParaRPr lang="en-US" sz="1280" dirty="0"/>
          </a:p>
        </p:txBody>
      </p:sp>
      <p:sp>
        <p:nvSpPr>
          <p:cNvPr id="17" name="Text 14"/>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Challenges Faced</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Main development challenges</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10</a:t>
            </a:r>
            <a:endParaRPr lang="en-US" sz="850" dirty="0"/>
          </a:p>
        </p:txBody>
      </p:sp>
      <p:sp>
        <p:nvSpPr>
          <p:cNvPr id="8" name="Text 6"/>
          <p:cNvSpPr/>
          <p:nvPr/>
        </p:nvSpPr>
        <p:spPr>
          <a:xfrm>
            <a:off x="658368" y="1325880"/>
            <a:ext cx="8961120" cy="384048"/>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We faced several challenges during development, but two stood out as the most important.</a:t>
            </a:r>
            <a:endParaRPr lang="en-US" sz="1800" dirty="0"/>
          </a:p>
        </p:txBody>
      </p:sp>
      <p:sp>
        <p:nvSpPr>
          <p:cNvPr id="9" name="Shape 7"/>
          <p:cNvSpPr/>
          <p:nvPr/>
        </p:nvSpPr>
        <p:spPr>
          <a:xfrm>
            <a:off x="685800" y="2057400"/>
            <a:ext cx="5212080" cy="1965960"/>
          </a:xfrm>
          <a:prstGeom prst="roundRect">
            <a:avLst>
              <a:gd name="adj" fmla="val 3721"/>
            </a:avLst>
          </a:prstGeom>
          <a:solidFill>
            <a:srgbClr val="FFFFFF"/>
          </a:solidFill>
          <a:ln w="12700">
            <a:solidFill>
              <a:srgbClr val="DDE9F1"/>
            </a:solidFill>
            <a:prstDash val="solid"/>
          </a:ln>
        </p:spPr>
      </p:sp>
      <p:sp>
        <p:nvSpPr>
          <p:cNvPr id="10" name="Shape 8"/>
          <p:cNvSpPr/>
          <p:nvPr/>
        </p:nvSpPr>
        <p:spPr>
          <a:xfrm>
            <a:off x="685800" y="2057400"/>
            <a:ext cx="73152" cy="1965960"/>
          </a:xfrm>
          <a:prstGeom prst="rect">
            <a:avLst/>
          </a:prstGeom>
          <a:solidFill>
            <a:srgbClr val="842A49"/>
          </a:solidFill>
          <a:ln w="12700">
            <a:solidFill>
              <a:srgbClr val="333333">
                <a:alpha val="0"/>
              </a:srgbClr>
            </a:solidFill>
            <a:prstDash val="solid"/>
          </a:ln>
        </p:spPr>
      </p:sp>
      <p:sp>
        <p:nvSpPr>
          <p:cNvPr id="11" name="Text 9"/>
          <p:cNvSpPr/>
          <p:nvPr/>
        </p:nvSpPr>
        <p:spPr>
          <a:xfrm>
            <a:off x="941832" y="2258568"/>
            <a:ext cx="475488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Problem statement refinement</a:t>
            </a:r>
            <a:endParaRPr lang="en-US" sz="1800" dirty="0"/>
          </a:p>
        </p:txBody>
      </p:sp>
      <p:sp>
        <p:nvSpPr>
          <p:cNvPr id="12" name="Text 10"/>
          <p:cNvSpPr/>
          <p:nvPr/>
        </p:nvSpPr>
        <p:spPr>
          <a:xfrm>
            <a:off x="941832" y="2734056"/>
            <a:ext cx="4709160" cy="112471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We shifted from disease detection to an educational/research decision-support system, because the project is not clinically validated and should not make medical diagnoses.</a:t>
            </a:r>
            <a:endParaRPr lang="en-US" sz="1550" dirty="0"/>
          </a:p>
        </p:txBody>
      </p:sp>
      <p:sp>
        <p:nvSpPr>
          <p:cNvPr id="13" name="Shape 11"/>
          <p:cNvSpPr/>
          <p:nvPr/>
        </p:nvSpPr>
        <p:spPr>
          <a:xfrm>
            <a:off x="685800" y="4343400"/>
            <a:ext cx="5212080" cy="1828800"/>
          </a:xfrm>
          <a:prstGeom prst="roundRect">
            <a:avLst>
              <a:gd name="adj" fmla="val 4000"/>
            </a:avLst>
          </a:prstGeom>
          <a:solidFill>
            <a:srgbClr val="FFFFFF"/>
          </a:solidFill>
          <a:ln w="12700">
            <a:solidFill>
              <a:srgbClr val="DDE9F1"/>
            </a:solidFill>
            <a:prstDash val="solid"/>
          </a:ln>
        </p:spPr>
      </p:sp>
      <p:sp>
        <p:nvSpPr>
          <p:cNvPr id="14" name="Shape 12"/>
          <p:cNvSpPr/>
          <p:nvPr/>
        </p:nvSpPr>
        <p:spPr>
          <a:xfrm>
            <a:off x="685800" y="4343400"/>
            <a:ext cx="73152" cy="1828800"/>
          </a:xfrm>
          <a:prstGeom prst="rect">
            <a:avLst/>
          </a:prstGeom>
          <a:solidFill>
            <a:srgbClr val="10B8A6"/>
          </a:solidFill>
          <a:ln w="12700">
            <a:solidFill>
              <a:srgbClr val="333333">
                <a:alpha val="0"/>
              </a:srgbClr>
            </a:solidFill>
            <a:prstDash val="solid"/>
          </a:ln>
        </p:spPr>
      </p:sp>
      <p:sp>
        <p:nvSpPr>
          <p:cNvPr id="15" name="Text 13"/>
          <p:cNvSpPr/>
          <p:nvPr/>
        </p:nvSpPr>
        <p:spPr>
          <a:xfrm>
            <a:off x="941832" y="4544568"/>
            <a:ext cx="475488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3D CT scan processing</a:t>
            </a:r>
            <a:endParaRPr lang="en-US" sz="1800" dirty="0"/>
          </a:p>
        </p:txBody>
      </p:sp>
      <p:sp>
        <p:nvSpPr>
          <p:cNvPr id="16" name="Text 14"/>
          <p:cNvSpPr/>
          <p:nvPr/>
        </p:nvSpPr>
        <p:spPr>
          <a:xfrm>
            <a:off x="941832" y="5020056"/>
            <a:ext cx="4709160" cy="98755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CT cases had to be sliced into hundreds of PNG images and compressed into one final airway image. This caused heap-memory issues, so we increased the Java runtime memory arguments to complete larger cases.</a:t>
            </a:r>
            <a:endParaRPr lang="en-US" sz="1550" dirty="0"/>
          </a:p>
        </p:txBody>
      </p:sp>
      <p:sp>
        <p:nvSpPr>
          <p:cNvPr id="17" name="Shape 15"/>
          <p:cNvSpPr/>
          <p:nvPr/>
        </p:nvSpPr>
        <p:spPr>
          <a:xfrm>
            <a:off x="6446520" y="1920240"/>
            <a:ext cx="4434840" cy="1874520"/>
          </a:xfrm>
          <a:prstGeom prst="roundRect">
            <a:avLst>
              <a:gd name="adj" fmla="val 3902"/>
            </a:avLst>
          </a:prstGeom>
          <a:solidFill>
            <a:srgbClr val="FFFFFF"/>
          </a:solidFill>
          <a:ln w="12700">
            <a:solidFill>
              <a:srgbClr val="D9E6EF"/>
            </a:solidFill>
            <a:prstDash val="solid"/>
          </a:ln>
        </p:spPr>
      </p:sp>
      <p:pic>
        <p:nvPicPr>
          <p:cNvPr id="18" name="Image 0" descr="/mnt/data/588a1456-70b7-4a62-8cce-1ce2350e3224.jpg">    </p:cNvPr>
          <p:cNvPicPr>
            <a:picLocks noChangeAspect="1"/>
          </p:cNvPicPr>
          <p:nvPr/>
        </p:nvPicPr>
        <p:blipFill>
          <a:blip r:embed="rId1"/>
          <a:srcRect l="0" r="0" t="17188" b="17188"/>
          <a:stretch/>
        </p:blipFill>
        <p:spPr>
          <a:xfrm>
            <a:off x="6519672" y="1993392"/>
            <a:ext cx="4288536" cy="1728216"/>
          </a:xfrm>
          <a:prstGeom prst="rect">
            <a:avLst/>
          </a:prstGeom>
        </p:spPr>
      </p:pic>
      <p:sp>
        <p:nvSpPr>
          <p:cNvPr id="19" name="Shape 16"/>
          <p:cNvSpPr/>
          <p:nvPr/>
        </p:nvSpPr>
        <p:spPr>
          <a:xfrm>
            <a:off x="6446520" y="4160520"/>
            <a:ext cx="4434840" cy="1572768"/>
          </a:xfrm>
          <a:prstGeom prst="roundRect">
            <a:avLst>
              <a:gd name="adj" fmla="val 4651"/>
            </a:avLst>
          </a:prstGeom>
          <a:solidFill>
            <a:srgbClr val="FFFFFF"/>
          </a:solidFill>
          <a:ln w="12700">
            <a:solidFill>
              <a:srgbClr val="D9E6EF"/>
            </a:solidFill>
            <a:prstDash val="solid"/>
          </a:ln>
        </p:spPr>
      </p:sp>
      <p:pic>
        <p:nvPicPr>
          <p:cNvPr id="20" name="Image 1" descr="/mnt/data/airway_final_assets/ui_top.png">    </p:cNvPr>
          <p:cNvPicPr>
            <a:picLocks noChangeAspect="1"/>
          </p:cNvPicPr>
          <p:nvPr/>
        </p:nvPicPr>
        <p:blipFill>
          <a:blip r:embed="rId2"/>
          <a:srcRect l="0" r="0" t="900" b="900"/>
          <a:stretch/>
        </p:blipFill>
        <p:spPr>
          <a:xfrm>
            <a:off x="6519672" y="4233672"/>
            <a:ext cx="4288536" cy="1426464"/>
          </a:xfrm>
          <a:prstGeom prst="rect">
            <a:avLst/>
          </a:prstGeom>
        </p:spPr>
      </p:pic>
      <p:sp>
        <p:nvSpPr>
          <p:cNvPr id="21" name="Text 17"/>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Conclusion</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What the project demonstrates</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11</a:t>
            </a:r>
            <a:endParaRPr lang="en-US" sz="850" dirty="0"/>
          </a:p>
        </p:txBody>
      </p:sp>
      <p:sp>
        <p:nvSpPr>
          <p:cNvPr id="8" name="Text 6"/>
          <p:cNvSpPr/>
          <p:nvPr/>
        </p:nvSpPr>
        <p:spPr>
          <a:xfrm>
            <a:off x="685800" y="1325880"/>
            <a:ext cx="10698480" cy="749808"/>
          </a:xfrm>
          <a:prstGeom prst="rect">
            <a:avLst/>
          </a:prstGeom>
          <a:noFill/>
          <a:ln/>
        </p:spPr>
        <p:txBody>
          <a:bodyPr wrap="square" lIns="0" tIns="0" rIns="0" bIns="0" rtlCol="0" anchor="t">
            <a:normAutofit/>
          </a:bodyPr>
          <a:lstStyle/>
          <a:p>
            <a:pPr algn="l" indent="0" marL="0">
              <a:buNone/>
            </a:pPr>
            <a:r>
              <a:rPr lang="en-US" sz="2300" b="1" dirty="0">
                <a:solidFill>
                  <a:srgbClr val="12213A"/>
                </a:solidFill>
                <a:latin typeface="Aptos" pitchFamily="34" charset="0"/>
                <a:ea typeface="Aptos" pitchFamily="34" charset="-122"/>
                <a:cs typeface="Aptos" pitchFamily="34" charset="-120"/>
              </a:rPr>
              <a:t>The Airway Analysis System demonstrates how graph-based image processing can transform complex CT airway data into a clearer visual, numerical and structural summary.</a:t>
            </a:r>
            <a:endParaRPr lang="en-US" sz="2300" dirty="0"/>
          </a:p>
        </p:txBody>
      </p:sp>
      <p:sp>
        <p:nvSpPr>
          <p:cNvPr id="9" name="Shape 7"/>
          <p:cNvSpPr/>
          <p:nvPr/>
        </p:nvSpPr>
        <p:spPr>
          <a:xfrm>
            <a:off x="685800" y="2606040"/>
            <a:ext cx="2971800" cy="2971800"/>
          </a:xfrm>
          <a:prstGeom prst="roundRect">
            <a:avLst>
              <a:gd name="adj" fmla="val 2462"/>
            </a:avLst>
          </a:prstGeom>
          <a:solidFill>
            <a:srgbClr val="FFFFFF"/>
          </a:solidFill>
          <a:ln w="12700">
            <a:solidFill>
              <a:srgbClr val="D9E6EF"/>
            </a:solidFill>
            <a:prstDash val="solid"/>
          </a:ln>
        </p:spPr>
      </p:sp>
      <p:pic>
        <p:nvPicPr>
          <p:cNvPr id="10" name="Image 0" descr="/mnt/data/airway_final_assets/graph_panel.png">    </p:cNvPr>
          <p:cNvPicPr>
            <a:picLocks noChangeAspect="1"/>
          </p:cNvPicPr>
          <p:nvPr/>
        </p:nvPicPr>
        <p:blipFill>
          <a:blip r:embed="rId1"/>
          <a:stretch>
            <a:fillRect/>
          </a:stretch>
        </p:blipFill>
        <p:spPr>
          <a:xfrm>
            <a:off x="758952" y="2696421"/>
            <a:ext cx="2825496" cy="2791039"/>
          </a:xfrm>
          <a:prstGeom prst="rect">
            <a:avLst/>
          </a:prstGeom>
        </p:spPr>
      </p:pic>
      <p:sp>
        <p:nvSpPr>
          <p:cNvPr id="11" name="Shape 8"/>
          <p:cNvSpPr/>
          <p:nvPr/>
        </p:nvSpPr>
        <p:spPr>
          <a:xfrm>
            <a:off x="4005072" y="2606040"/>
            <a:ext cx="3154680" cy="1965960"/>
          </a:xfrm>
          <a:prstGeom prst="roundRect">
            <a:avLst>
              <a:gd name="adj" fmla="val 3721"/>
            </a:avLst>
          </a:prstGeom>
          <a:solidFill>
            <a:srgbClr val="FFFFFF"/>
          </a:solidFill>
          <a:ln w="12700">
            <a:solidFill>
              <a:srgbClr val="DDE9F1"/>
            </a:solidFill>
            <a:prstDash val="solid"/>
          </a:ln>
        </p:spPr>
      </p:sp>
      <p:sp>
        <p:nvSpPr>
          <p:cNvPr id="12" name="Shape 9"/>
          <p:cNvSpPr/>
          <p:nvPr/>
        </p:nvSpPr>
        <p:spPr>
          <a:xfrm>
            <a:off x="4005072" y="2606040"/>
            <a:ext cx="73152" cy="1965960"/>
          </a:xfrm>
          <a:prstGeom prst="rect">
            <a:avLst/>
          </a:prstGeom>
          <a:solidFill>
            <a:srgbClr val="10B8A6"/>
          </a:solidFill>
          <a:ln w="12700">
            <a:solidFill>
              <a:srgbClr val="333333">
                <a:alpha val="0"/>
              </a:srgbClr>
            </a:solidFill>
            <a:prstDash val="solid"/>
          </a:ln>
        </p:spPr>
      </p:sp>
      <p:sp>
        <p:nvSpPr>
          <p:cNvPr id="13" name="Text 10"/>
          <p:cNvSpPr/>
          <p:nvPr/>
        </p:nvSpPr>
        <p:spPr>
          <a:xfrm>
            <a:off x="4261104" y="2807208"/>
            <a:ext cx="269748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Practical result</a:t>
            </a:r>
            <a:endParaRPr lang="en-US" sz="1800" dirty="0"/>
          </a:p>
        </p:txBody>
      </p:sp>
      <p:sp>
        <p:nvSpPr>
          <p:cNvPr id="14" name="Text 11"/>
          <p:cNvSpPr/>
          <p:nvPr/>
        </p:nvSpPr>
        <p:spPr>
          <a:xfrm>
            <a:off x="4261104" y="3282696"/>
            <a:ext cx="2651760" cy="112471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Image processing, custom graph structures, feature extraction, similarity comparison and pathfinding work together in one Java desktop application.</a:t>
            </a:r>
            <a:endParaRPr lang="en-US" sz="1550" dirty="0"/>
          </a:p>
        </p:txBody>
      </p:sp>
      <p:sp>
        <p:nvSpPr>
          <p:cNvPr id="15" name="Shape 12"/>
          <p:cNvSpPr/>
          <p:nvPr/>
        </p:nvSpPr>
        <p:spPr>
          <a:xfrm>
            <a:off x="7479792" y="2606040"/>
            <a:ext cx="3474720" cy="1965960"/>
          </a:xfrm>
          <a:prstGeom prst="roundRect">
            <a:avLst>
              <a:gd name="adj" fmla="val 3721"/>
            </a:avLst>
          </a:prstGeom>
          <a:solidFill>
            <a:srgbClr val="FFFFFF"/>
          </a:solidFill>
          <a:ln w="12700">
            <a:solidFill>
              <a:srgbClr val="DDE9F1"/>
            </a:solidFill>
            <a:prstDash val="solid"/>
          </a:ln>
        </p:spPr>
      </p:sp>
      <p:sp>
        <p:nvSpPr>
          <p:cNvPr id="16" name="Shape 13"/>
          <p:cNvSpPr/>
          <p:nvPr/>
        </p:nvSpPr>
        <p:spPr>
          <a:xfrm>
            <a:off x="7479792" y="2606040"/>
            <a:ext cx="73152" cy="1965960"/>
          </a:xfrm>
          <a:prstGeom prst="rect">
            <a:avLst/>
          </a:prstGeom>
          <a:solidFill>
            <a:srgbClr val="842A49"/>
          </a:solidFill>
          <a:ln w="12700">
            <a:solidFill>
              <a:srgbClr val="333333">
                <a:alpha val="0"/>
              </a:srgbClr>
            </a:solidFill>
            <a:prstDash val="solid"/>
          </a:ln>
        </p:spPr>
      </p:sp>
      <p:sp>
        <p:nvSpPr>
          <p:cNvPr id="17" name="Text 14"/>
          <p:cNvSpPr/>
          <p:nvPr/>
        </p:nvSpPr>
        <p:spPr>
          <a:xfrm>
            <a:off x="7735824" y="2807208"/>
            <a:ext cx="301752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Project value</a:t>
            </a:r>
            <a:endParaRPr lang="en-US" sz="1800" dirty="0"/>
          </a:p>
        </p:txBody>
      </p:sp>
      <p:sp>
        <p:nvSpPr>
          <p:cNvPr id="18" name="Text 15"/>
          <p:cNvSpPr/>
          <p:nvPr/>
        </p:nvSpPr>
        <p:spPr>
          <a:xfrm>
            <a:off x="7735824" y="3282696"/>
            <a:ext cx="2971800" cy="112471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The value is not in replacing medical professionals, but in supporting students, researchers, lecturers and reviewers with clearer airway information.</a:t>
            </a:r>
            <a:endParaRPr lang="en-US" sz="1550" dirty="0"/>
          </a:p>
        </p:txBody>
      </p:sp>
      <p:sp>
        <p:nvSpPr>
          <p:cNvPr id="19" name="Text 16"/>
          <p:cNvSpPr/>
          <p:nvPr/>
        </p:nvSpPr>
        <p:spPr>
          <a:xfrm>
            <a:off x="4206240" y="5212080"/>
            <a:ext cx="6400800" cy="365760"/>
          </a:xfrm>
          <a:prstGeom prst="rect">
            <a:avLst/>
          </a:prstGeom>
          <a:noFill/>
          <a:ln/>
        </p:spPr>
        <p:txBody>
          <a:bodyPr wrap="square" lIns="0" tIns="0" rIns="0" bIns="0" rtlCol="0" anchor="t">
            <a:normAutofit/>
          </a:bodyPr>
          <a:lstStyle/>
          <a:p>
            <a:pPr algn="ctr" indent="0" marL="0">
              <a:buNone/>
            </a:pPr>
            <a:r>
              <a:rPr lang="en-US" sz="1700" b="1" dirty="0">
                <a:solidFill>
                  <a:srgbClr val="12213A"/>
                </a:solidFill>
                <a:latin typeface="Aptos" pitchFamily="34" charset="0"/>
                <a:ea typeface="Aptos" pitchFamily="34" charset="-122"/>
                <a:cs typeface="Aptos" pitchFamily="34" charset="-120"/>
              </a:rPr>
              <a:t>Educational and research decision-support prototype for graph-based medical image analysis.</a:t>
            </a:r>
            <a:endParaRPr lang="en-US" sz="1700" dirty="0"/>
          </a:p>
        </p:txBody>
      </p:sp>
      <p:sp>
        <p:nvSpPr>
          <p:cNvPr id="20" name="Text 17"/>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FD"/>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93DDF5"/>
          </a:solidFill>
          <a:ln w="12700">
            <a:solidFill>
              <a:srgbClr val="333333">
                <a:alpha val="0"/>
              </a:srgbClr>
            </a:solidFill>
            <a:prstDash val="solid"/>
          </a:ln>
        </p:spPr>
      </p:sp>
      <p:sp>
        <p:nvSpPr>
          <p:cNvPr id="3" name="Shape 1"/>
          <p:cNvSpPr/>
          <p:nvPr/>
        </p:nvSpPr>
        <p:spPr>
          <a:xfrm>
            <a:off x="0" y="6784848"/>
            <a:ext cx="12191695" cy="73152"/>
          </a:xfrm>
          <a:prstGeom prst="rect">
            <a:avLst/>
          </a:prstGeom>
          <a:solidFill>
            <a:srgbClr val="842A49"/>
          </a:solidFill>
          <a:ln w="12700">
            <a:solidFill>
              <a:srgbClr val="333333">
                <a:alpha val="0"/>
              </a:srgbClr>
            </a:solidFill>
            <a:prstDash val="solid"/>
          </a:ln>
        </p:spPr>
      </p:sp>
      <p:sp>
        <p:nvSpPr>
          <p:cNvPr id="4" name="Text 2"/>
          <p:cNvSpPr/>
          <p:nvPr/>
        </p:nvSpPr>
        <p:spPr>
          <a:xfrm>
            <a:off x="502920" y="384048"/>
            <a:ext cx="7680960" cy="502920"/>
          </a:xfrm>
          <a:prstGeom prst="rect">
            <a:avLst/>
          </a:prstGeom>
          <a:noFill/>
          <a:ln/>
        </p:spPr>
        <p:txBody>
          <a:bodyPr wrap="square" lIns="0" tIns="0" rIns="0" bIns="0" rtlCol="0" anchor="t">
            <a:normAutofit/>
          </a:bodyPr>
          <a:lstStyle/>
          <a:p>
            <a:pPr algn="l" indent="0" marL="0">
              <a:buNone/>
            </a:pPr>
            <a:r>
              <a:rPr lang="en-US" sz="2600" b="1" dirty="0">
                <a:solidFill>
                  <a:srgbClr val="12213A"/>
                </a:solidFill>
                <a:latin typeface="Aptos" pitchFamily="34" charset="0"/>
                <a:ea typeface="Aptos" pitchFamily="34" charset="-122"/>
                <a:cs typeface="Aptos" pitchFamily="34" charset="-120"/>
              </a:rPr>
              <a:t>References and Supporting Sources</a:t>
            </a:r>
            <a:endParaRPr lang="en-US" sz="2600" dirty="0"/>
          </a:p>
        </p:txBody>
      </p:sp>
      <p:sp>
        <p:nvSpPr>
          <p:cNvPr id="5" name="Text 3"/>
          <p:cNvSpPr/>
          <p:nvPr/>
        </p:nvSpPr>
        <p:spPr>
          <a:xfrm>
            <a:off x="530352" y="896112"/>
            <a:ext cx="6949440" cy="256032"/>
          </a:xfrm>
          <a:prstGeom prst="rect">
            <a:avLst/>
          </a:prstGeom>
          <a:noFill/>
          <a:ln/>
        </p:spPr>
        <p:txBody>
          <a:bodyPr wrap="square" lIns="0" tIns="0" rIns="0" bIns="0" rtlCol="0" anchor="t">
            <a:normAutofit/>
          </a:bodyPr>
          <a:lstStyle/>
          <a:p>
            <a:pPr algn="l" indent="0" marL="0">
              <a:buNone/>
            </a:pPr>
            <a:r>
              <a:rPr lang="en-US" sz="950" dirty="0">
                <a:solidFill>
                  <a:srgbClr val="5F6B7A"/>
                </a:solidFill>
                <a:latin typeface="Aptos" pitchFamily="34" charset="0"/>
                <a:ea typeface="Aptos" pitchFamily="34" charset="-122"/>
                <a:cs typeface="Aptos" pitchFamily="34" charset="-120"/>
              </a:rPr>
              <a:t>Algorithms, dataset and feature category guidance</a:t>
            </a:r>
            <a:endParaRPr lang="en-US" sz="950" dirty="0"/>
          </a:p>
        </p:txBody>
      </p:sp>
      <p:sp>
        <p:nvSpPr>
          <p:cNvPr id="6" name="Shape 4"/>
          <p:cNvSpPr/>
          <p:nvPr/>
        </p:nvSpPr>
        <p:spPr>
          <a:xfrm>
            <a:off x="10378440" y="393192"/>
            <a:ext cx="1097280" cy="384048"/>
          </a:xfrm>
          <a:prstGeom prst="roundRect">
            <a:avLst>
              <a:gd name="adj" fmla="val 19048"/>
            </a:avLst>
          </a:prstGeom>
          <a:solidFill>
            <a:srgbClr val="12213A"/>
          </a:solidFill>
          <a:ln w="12700">
            <a:solidFill>
              <a:srgbClr val="333333">
                <a:alpha val="0"/>
              </a:srgbClr>
            </a:solidFill>
            <a:prstDash val="solid"/>
          </a:ln>
        </p:spPr>
      </p:sp>
      <p:sp>
        <p:nvSpPr>
          <p:cNvPr id="7" name="Text 5"/>
          <p:cNvSpPr/>
          <p:nvPr/>
        </p:nvSpPr>
        <p:spPr>
          <a:xfrm>
            <a:off x="10378440" y="484632"/>
            <a:ext cx="1097280"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12</a:t>
            </a:r>
            <a:endParaRPr lang="en-US" sz="850" dirty="0"/>
          </a:p>
        </p:txBody>
      </p:sp>
      <p:sp>
        <p:nvSpPr>
          <p:cNvPr id="8" name="Shape 6"/>
          <p:cNvSpPr/>
          <p:nvPr/>
        </p:nvSpPr>
        <p:spPr>
          <a:xfrm>
            <a:off x="685800" y="1298448"/>
            <a:ext cx="5120640" cy="4892040"/>
          </a:xfrm>
          <a:prstGeom prst="roundRect">
            <a:avLst>
              <a:gd name="adj" fmla="val 1495"/>
            </a:avLst>
          </a:prstGeom>
          <a:solidFill>
            <a:srgbClr val="FFFFFF"/>
          </a:solidFill>
          <a:ln w="12700">
            <a:solidFill>
              <a:srgbClr val="DDE9F1"/>
            </a:solidFill>
            <a:prstDash val="solid"/>
          </a:ln>
        </p:spPr>
      </p:sp>
      <p:sp>
        <p:nvSpPr>
          <p:cNvPr id="9" name="Shape 7"/>
          <p:cNvSpPr/>
          <p:nvPr/>
        </p:nvSpPr>
        <p:spPr>
          <a:xfrm>
            <a:off x="685800" y="1298448"/>
            <a:ext cx="73152" cy="4892040"/>
          </a:xfrm>
          <a:prstGeom prst="rect">
            <a:avLst/>
          </a:prstGeom>
          <a:solidFill>
            <a:srgbClr val="10B8A6"/>
          </a:solidFill>
          <a:ln w="12700">
            <a:solidFill>
              <a:srgbClr val="333333">
                <a:alpha val="0"/>
              </a:srgbClr>
            </a:solidFill>
            <a:prstDash val="solid"/>
          </a:ln>
        </p:spPr>
      </p:sp>
      <p:sp>
        <p:nvSpPr>
          <p:cNvPr id="10" name="Text 8"/>
          <p:cNvSpPr/>
          <p:nvPr/>
        </p:nvSpPr>
        <p:spPr>
          <a:xfrm>
            <a:off x="941832" y="1499616"/>
            <a:ext cx="466344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Project sources</a:t>
            </a:r>
            <a:endParaRPr lang="en-US" sz="1800" dirty="0"/>
          </a:p>
        </p:txBody>
      </p:sp>
      <p:sp>
        <p:nvSpPr>
          <p:cNvPr id="11" name="Text 9"/>
          <p:cNvSpPr/>
          <p:nvPr/>
        </p:nvSpPr>
        <p:spPr>
          <a:xfrm>
            <a:off x="941832" y="1975104"/>
            <a:ext cx="4617720" cy="405079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Dataset</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AeroPath CT airway dataset</a:t>
            </a:r>
            <a:endParaRPr lang="en-US" sz="1550" dirty="0"/>
          </a:p>
          <a:p>
            <a:pPr algn="l" indent="0" marL="0">
              <a:buNone/>
            </a:pP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Image Processing</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Grayscale processing, Sobel edge detection, binary masking</a:t>
            </a:r>
            <a:endParaRPr lang="en-US" sz="1550" dirty="0"/>
          </a:p>
          <a:p>
            <a:pPr algn="l" indent="0" marL="0">
              <a:buNone/>
            </a:pP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Skeletonization</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Zhang-Suen thinning algorithm</a:t>
            </a:r>
            <a:endParaRPr lang="en-US" sz="1550" dirty="0"/>
          </a:p>
          <a:p>
            <a:pPr algn="l" indent="0" marL="0">
              <a:buNone/>
            </a:pP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Graph Representation</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Custom Graph ADT using nodes and edges</a:t>
            </a:r>
            <a:endParaRPr lang="en-US" sz="1550" dirty="0"/>
          </a:p>
        </p:txBody>
      </p:sp>
      <p:sp>
        <p:nvSpPr>
          <p:cNvPr id="12" name="Shape 10"/>
          <p:cNvSpPr/>
          <p:nvPr/>
        </p:nvSpPr>
        <p:spPr>
          <a:xfrm>
            <a:off x="6144768" y="1298448"/>
            <a:ext cx="5120640" cy="4892040"/>
          </a:xfrm>
          <a:prstGeom prst="roundRect">
            <a:avLst>
              <a:gd name="adj" fmla="val 1495"/>
            </a:avLst>
          </a:prstGeom>
          <a:solidFill>
            <a:srgbClr val="FFFFFF"/>
          </a:solidFill>
          <a:ln w="12700">
            <a:solidFill>
              <a:srgbClr val="DDE9F1"/>
            </a:solidFill>
            <a:prstDash val="solid"/>
          </a:ln>
        </p:spPr>
      </p:sp>
      <p:sp>
        <p:nvSpPr>
          <p:cNvPr id="13" name="Shape 11"/>
          <p:cNvSpPr/>
          <p:nvPr/>
        </p:nvSpPr>
        <p:spPr>
          <a:xfrm>
            <a:off x="6144768" y="1298448"/>
            <a:ext cx="73152" cy="4892040"/>
          </a:xfrm>
          <a:prstGeom prst="rect">
            <a:avLst/>
          </a:prstGeom>
          <a:solidFill>
            <a:srgbClr val="842A49"/>
          </a:solidFill>
          <a:ln w="12700">
            <a:solidFill>
              <a:srgbClr val="333333">
                <a:alpha val="0"/>
              </a:srgbClr>
            </a:solidFill>
            <a:prstDash val="solid"/>
          </a:ln>
        </p:spPr>
      </p:sp>
      <p:sp>
        <p:nvSpPr>
          <p:cNvPr id="14" name="Text 12"/>
          <p:cNvSpPr/>
          <p:nvPr/>
        </p:nvSpPr>
        <p:spPr>
          <a:xfrm>
            <a:off x="6400800" y="1499616"/>
            <a:ext cx="4663440" cy="310896"/>
          </a:xfrm>
          <a:prstGeom prst="rect">
            <a:avLst/>
          </a:prstGeom>
          <a:noFill/>
          <a:ln/>
        </p:spPr>
        <p:txBody>
          <a:bodyPr wrap="square" lIns="0" tIns="0" rIns="0" bIns="0" rtlCol="0" anchor="t">
            <a:normAutofit/>
          </a:bodyPr>
          <a:lstStyle/>
          <a:p>
            <a:pPr algn="l" indent="0" marL="0">
              <a:buNone/>
            </a:pPr>
            <a:r>
              <a:rPr lang="en-US" sz="1800" b="1" dirty="0">
                <a:solidFill>
                  <a:srgbClr val="12213A"/>
                </a:solidFill>
                <a:latin typeface="Aptos" pitchFamily="34" charset="0"/>
                <a:ea typeface="Aptos" pitchFamily="34" charset="-122"/>
                <a:cs typeface="Aptos" pitchFamily="34" charset="-120"/>
              </a:rPr>
              <a:t>Supporting references</a:t>
            </a:r>
            <a:endParaRPr lang="en-US" sz="1800" dirty="0"/>
          </a:p>
        </p:txBody>
      </p:sp>
      <p:sp>
        <p:nvSpPr>
          <p:cNvPr id="15" name="Text 13"/>
          <p:cNvSpPr/>
          <p:nvPr/>
        </p:nvSpPr>
        <p:spPr>
          <a:xfrm>
            <a:off x="6400800" y="1975104"/>
            <a:ext cx="4617720" cy="4050792"/>
          </a:xfrm>
          <a:prstGeom prst="rect">
            <a:avLst/>
          </a:prstGeom>
          <a:noFill/>
          <a:ln/>
        </p:spPr>
        <p:txBody>
          <a:bodyPr wrap="square" lIns="0" tIns="0" rIns="0" bIns="0" rtlCol="0" anchor="t">
            <a:normAutofit/>
          </a:bodyPr>
          <a:lstStyle/>
          <a:p>
            <a:pPr algn="l" indent="0" marL="0">
              <a:buNone/>
            </a:pPr>
            <a:r>
              <a:rPr lang="en-US" sz="1550" dirty="0">
                <a:solidFill>
                  <a:srgbClr val="162033"/>
                </a:solidFill>
                <a:latin typeface="Aptos" pitchFamily="34" charset="0"/>
                <a:ea typeface="Aptos" pitchFamily="34" charset="-122"/>
                <a:cs typeface="Aptos" pitchFamily="34" charset="-120"/>
              </a:rPr>
              <a:t>Similarity + Pathfinding</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KNN-style feature comparison, Dijkstra and A* algorithms</a:t>
            </a:r>
            <a:endParaRPr lang="en-US" sz="1550" dirty="0"/>
          </a:p>
          <a:p>
            <a:pPr algn="l" indent="0" marL="0">
              <a:buNone/>
            </a:pP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Feature Category Guidance</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CT airway morphology and segmentation literature, including Maetani et al., Kirby et al., Tawhai et al., and Lo et al.</a:t>
            </a:r>
            <a:endParaRPr lang="en-US" sz="1550" dirty="0"/>
          </a:p>
          <a:p>
            <a:pPr algn="l" indent="0" marL="0">
              <a:buNone/>
            </a:pP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Important note</a:t>
            </a:r>
            <a:endParaRPr lang="en-US" sz="1550" dirty="0"/>
          </a:p>
          <a:p>
            <a:pPr algn="l" indent="0" marL="0">
              <a:buNone/>
            </a:pPr>
            <a:r>
              <a:rPr lang="en-US" sz="1550" dirty="0">
                <a:solidFill>
                  <a:srgbClr val="162033"/>
                </a:solidFill>
                <a:latin typeface="Aptos" pitchFamily="34" charset="0"/>
                <a:ea typeface="Aptos" pitchFamily="34" charset="-122"/>
                <a:cs typeface="Aptos" pitchFamily="34" charset="-120"/>
              </a:rPr>
              <a:t>Feature ranges are project-defined and not clinically validated diagnostic thresholds.</a:t>
            </a:r>
            <a:endParaRPr lang="en-US" sz="1550" dirty="0"/>
          </a:p>
        </p:txBody>
      </p:sp>
      <p:sp>
        <p:nvSpPr>
          <p:cNvPr id="16" name="Text 14"/>
          <p:cNvSpPr/>
          <p:nvPr/>
        </p:nvSpPr>
        <p:spPr>
          <a:xfrm>
            <a:off x="502920" y="6519672"/>
            <a:ext cx="2743200" cy="182880"/>
          </a:xfrm>
          <a:prstGeom prst="rect">
            <a:avLst/>
          </a:prstGeom>
          <a:noFill/>
          <a:ln/>
        </p:spPr>
        <p:txBody>
          <a:bodyPr wrap="square" lIns="0" tIns="0" rIns="0" bIns="0" rtlCol="0" anchor="t">
            <a:normAutofit/>
          </a:bodyPr>
          <a:lstStyle/>
          <a:p>
            <a:pPr algn="l" indent="0" marL="0">
              <a:buNone/>
            </a:pPr>
            <a:r>
              <a:rPr lang="en-US" sz="800" dirty="0">
                <a:solidFill>
                  <a:srgbClr val="5F6B7A"/>
                </a:solidFill>
                <a:latin typeface="Aptos" pitchFamily="34" charset="0"/>
                <a:ea typeface="Aptos" pitchFamily="34" charset="-122"/>
                <a:cs typeface="Aptos" pitchFamily="34" charset="-120"/>
              </a:rPr>
              <a:t>Airway Analysis System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Computer Science 3A Mini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Airway Analysis System</dc:title>
  <dc:subject>Graph-based CT airway analysis</dc:subject>
  <dc:creator>Airway Analysis System Team</dc:creator>
  <cp:lastModifiedBy>Airway Analysis System Team</cp:lastModifiedBy>
  <cp:revision>1</cp:revision>
  <dcterms:created xsi:type="dcterms:W3CDTF">2026-04-27T15:41:22Z</dcterms:created>
  <dcterms:modified xsi:type="dcterms:W3CDTF">2026-04-27T15:41:22Z</dcterms:modified>
</cp:coreProperties>
</file>